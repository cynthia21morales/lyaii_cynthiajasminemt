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1267017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411618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092943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91058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A0E103F-6521-44C3-A93B-ACCFC69FB9F0}" type="datetimeFigureOut">
              <a:rPr lang="es-MX" smtClean="0"/>
              <a:t>31/08/2026</a:t>
            </a:fld>
            <a:endParaRPr lang="es-MX"/>
          </a:p>
        </p:txBody>
      </p:sp>
      <p:sp>
        <p:nvSpPr>
          <p:cNvPr id="8" name="Footer Placeholder 7"/>
          <p:cNvSpPr>
            <a:spLocks noGrp="1"/>
          </p:cNvSpPr>
          <p:nvPr>
            <p:ph type="ftr" sz="quarter" idx="11"/>
          </p:nvPr>
        </p:nvSpPr>
        <p:spPr/>
        <p:txBody>
          <a:bodyPr/>
          <a:lstStyle/>
          <a:p>
            <a:endParaRPr lang="es-MX"/>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1498312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A0E103F-6521-44C3-A93B-ACCFC69FB9F0}" type="datetimeFigureOut">
              <a:rPr lang="es-MX" smtClean="0"/>
              <a:t>31/08/2026</a:t>
            </a:fld>
            <a:endParaRPr lang="es-MX"/>
          </a:p>
        </p:txBody>
      </p:sp>
      <p:sp>
        <p:nvSpPr>
          <p:cNvPr id="4" name="Footer Placeholder 3"/>
          <p:cNvSpPr>
            <a:spLocks noGrp="1"/>
          </p:cNvSpPr>
          <p:nvPr>
            <p:ph type="ftr" sz="quarter" idx="11"/>
          </p:nvPr>
        </p:nvSpPr>
        <p:spPr/>
        <p:txBody>
          <a:bodyPr/>
          <a:lstStyle/>
          <a:p>
            <a:endParaRPr lang="es-MX"/>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804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E103F-6521-44C3-A93B-ACCFC69FB9F0}" type="datetimeFigureOut">
              <a:rPr lang="es-MX" smtClean="0"/>
              <a:t>31/08/2026</a:t>
            </a:fld>
            <a:endParaRPr lang="es-MX"/>
          </a:p>
        </p:txBody>
      </p:sp>
      <p:sp>
        <p:nvSpPr>
          <p:cNvPr id="3" name="Footer Placeholder 2"/>
          <p:cNvSpPr>
            <a:spLocks noGrp="1"/>
          </p:cNvSpPr>
          <p:nvPr>
            <p:ph type="ftr" sz="quarter" idx="11"/>
          </p:nvPr>
        </p:nvSpPr>
        <p:spPr/>
        <p:txBody>
          <a:bodyPr/>
          <a:lstStyle/>
          <a:p>
            <a:endParaRPr lang="es-MX"/>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479451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167119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1021424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197285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15D70B-1CC8-46CE-9CB8-C076B0475232}" type="slidenum">
              <a:rPr lang="es-MX" smtClean="0"/>
              <a:t>‹Nº›</a:t>
            </a:fld>
            <a:endParaRPr lang="es-MX"/>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65129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3885926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15D70B-1CC8-46CE-9CB8-C076B0475232}" type="slidenum">
              <a:rPr lang="es-MX" smtClean="0"/>
              <a:t>‹Nº›</a:t>
            </a:fld>
            <a:endParaRPr lang="es-MX"/>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65163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FA0E103F-6521-44C3-A93B-ACCFC69FB9F0}"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2197972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3174360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A0E103F-6521-44C3-A93B-ACCFC69FB9F0}"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15D70B-1CC8-46CE-9CB8-C076B0475232}" type="slidenum">
              <a:rPr lang="es-MX" smtClean="0"/>
              <a:t>‹Nº›</a:t>
            </a:fld>
            <a:endParaRPr lang="es-MX"/>
          </a:p>
        </p:txBody>
      </p:sp>
    </p:spTree>
    <p:extLst>
      <p:ext uri="{BB962C8B-B14F-4D97-AF65-F5344CB8AC3E}">
        <p14:creationId xmlns:p14="http://schemas.microsoft.com/office/powerpoint/2010/main" val="4288192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A0E103F-6521-44C3-A93B-ACCFC69FB9F0}" type="datetimeFigureOut">
              <a:rPr lang="es-MX" smtClean="0"/>
              <a:t>31/08/2026</a:t>
            </a:fld>
            <a:endParaRPr lang="es-MX"/>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815D70B-1CC8-46CE-9CB8-C076B0475232}" type="slidenum">
              <a:rPr lang="es-MX" smtClean="0"/>
              <a:t>‹Nº›</a:t>
            </a:fld>
            <a:endParaRPr lang="es-MX"/>
          </a:p>
        </p:txBody>
      </p:sp>
    </p:spTree>
    <p:extLst>
      <p:ext uri="{BB962C8B-B14F-4D97-AF65-F5344CB8AC3E}">
        <p14:creationId xmlns:p14="http://schemas.microsoft.com/office/powerpoint/2010/main" val="12260757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18EAC20A-AD9F-5DB8-9EC5-6D108B39B926}"/>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Lenguajes</a:t>
            </a:r>
            <a:r>
              <a:rPr lang="en-US" sz="1600" dirty="0">
                <a:solidFill>
                  <a:srgbClr val="000000"/>
                </a:solidFill>
                <a:latin typeface="Century Gothic" panose="020B0502020202020204" pitchFamily="34" charset="0"/>
                <a:ea typeface="Glacial Indifference"/>
                <a:cs typeface="Glacial Indifference"/>
                <a:sym typeface="Glacial Indifference"/>
              </a:rPr>
              <a:t> y </a:t>
            </a:r>
            <a:r>
              <a:rPr lang="en-US" sz="1600" dirty="0" err="1">
                <a:solidFill>
                  <a:srgbClr val="000000"/>
                </a:solidFill>
                <a:latin typeface="Century Gothic" panose="020B0502020202020204" pitchFamily="34" charset="0"/>
                <a:ea typeface="Glacial Indifference"/>
                <a:cs typeface="Glacial Indifference"/>
                <a:sym typeface="Glacial Indifference"/>
              </a:rPr>
              <a:t>Automatas</a:t>
            </a:r>
            <a:r>
              <a:rPr lang="en-US" sz="1600" dirty="0">
                <a:solidFill>
                  <a:srgbClr val="000000"/>
                </a:solidFill>
                <a:latin typeface="Century Gothic" panose="020B0502020202020204" pitchFamily="34" charset="0"/>
                <a:ea typeface="Glacial Indifference"/>
                <a:cs typeface="Glacial Indifference"/>
                <a:sym typeface="Glacial Indifference"/>
              </a:rPr>
              <a:t> II</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Septimo</a:t>
            </a:r>
            <a:r>
              <a:rPr lang="en-US" sz="1600" dirty="0">
                <a:solidFill>
                  <a:srgbClr val="000000"/>
                </a:solidFill>
                <a:latin typeface="Century Gothic" panose="020B0502020202020204" pitchFamily="34" charset="0"/>
                <a:ea typeface="Glacial Indifference"/>
                <a:cs typeface="Glacial Indifference"/>
                <a:sym typeface="Glacial Indifference"/>
              </a:rPr>
              <a:t> semestre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18 de </a:t>
            </a:r>
            <a:r>
              <a:rPr lang="en-US" sz="1600" dirty="0" err="1">
                <a:solidFill>
                  <a:srgbClr val="000000"/>
                </a:solidFill>
                <a:latin typeface="Century Gothic" panose="020B0502020202020204" pitchFamily="34" charset="0"/>
                <a:ea typeface="Glacial Indifference"/>
                <a:cs typeface="Glacial Indifference"/>
                <a:sym typeface="Glacial Indifference"/>
              </a:rPr>
              <a:t>agosto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C350BFF6-CFAD-72B0-DA4B-E78460E22CF0}"/>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D42B46C9-FABD-FF5E-294B-B0593C31F6B7}"/>
              </a:ext>
            </a:extLst>
          </p:cNvPr>
          <p:cNvGrpSpPr/>
          <p:nvPr/>
        </p:nvGrpSpPr>
        <p:grpSpPr>
          <a:xfrm>
            <a:off x="1118708" y="31119"/>
            <a:ext cx="2709599" cy="1198176"/>
            <a:chOff x="0" y="0"/>
            <a:chExt cx="3073400" cy="1308100"/>
          </a:xfrm>
        </p:grpSpPr>
        <p:sp>
          <p:nvSpPr>
            <p:cNvPr id="7" name="Freeform 3">
              <a:extLst>
                <a:ext uri="{FF2B5EF4-FFF2-40B4-BE49-F238E27FC236}">
                  <a16:creationId xmlns:a16="http://schemas.microsoft.com/office/drawing/2014/main" id="{11F18952-26A7-7746-F8ED-C42FD7DE90ED}"/>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6346243C-5476-E3C8-2450-0CD0BE32A71C}"/>
              </a:ext>
            </a:extLst>
          </p:cNvPr>
          <p:cNvGrpSpPr/>
          <p:nvPr/>
        </p:nvGrpSpPr>
        <p:grpSpPr>
          <a:xfrm>
            <a:off x="9459465" y="106714"/>
            <a:ext cx="1872270" cy="1245240"/>
            <a:chOff x="0" y="0"/>
            <a:chExt cx="1981200" cy="1625600"/>
          </a:xfrm>
        </p:grpSpPr>
        <p:sp>
          <p:nvSpPr>
            <p:cNvPr id="9" name="Freeform 5">
              <a:extLst>
                <a:ext uri="{FF2B5EF4-FFF2-40B4-BE49-F238E27FC236}">
                  <a16:creationId xmlns:a16="http://schemas.microsoft.com/office/drawing/2014/main" id="{0FB9BEF9-73CC-F52B-1ACF-AB7692ED3C84}"/>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0956E29E-06F8-C978-511B-92E187DCB0C7}"/>
              </a:ext>
            </a:extLst>
          </p:cNvPr>
          <p:cNvGrpSpPr/>
          <p:nvPr/>
        </p:nvGrpSpPr>
        <p:grpSpPr>
          <a:xfrm>
            <a:off x="4609388" y="269788"/>
            <a:ext cx="3812814" cy="709234"/>
            <a:chOff x="0" y="0"/>
            <a:chExt cx="4343400" cy="901700"/>
          </a:xfrm>
        </p:grpSpPr>
        <p:sp>
          <p:nvSpPr>
            <p:cNvPr id="11" name="Freeform 7">
              <a:extLst>
                <a:ext uri="{FF2B5EF4-FFF2-40B4-BE49-F238E27FC236}">
                  <a16:creationId xmlns:a16="http://schemas.microsoft.com/office/drawing/2014/main" id="{990F90FF-ECAF-2356-E924-B3574AEAF9AB}"/>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247729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931C5-391B-F7C4-9A21-55521DD9D373}"/>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92D702BE-7615-50ED-082E-F2326FD704FF}"/>
              </a:ext>
            </a:extLst>
          </p:cNvPr>
          <p:cNvSpPr>
            <a:spLocks noGrp="1"/>
          </p:cNvSpPr>
          <p:nvPr>
            <p:ph idx="1"/>
          </p:nvPr>
        </p:nvSpPr>
        <p:spPr/>
        <p:txBody>
          <a:bodyPr/>
          <a:lstStyle/>
          <a:p>
            <a:pPr marL="0" indent="0" algn="just">
              <a:buNone/>
            </a:pPr>
            <a:r>
              <a:rPr lang="es-MX" sz="1800" dirty="0">
                <a:effectLst/>
                <a:latin typeface="Arial" panose="020B0604020202020204" pitchFamily="34" charset="0"/>
                <a:ea typeface="Calibri" panose="020F0502020204030204" pitchFamily="34" charset="0"/>
                <a:cs typeface="Arial" panose="020B0604020202020204" pitchFamily="34" charset="0"/>
              </a:rPr>
              <a:t>El presente reporte documenta el desarrollo de una práctica correspondiente a la materia de Lenguajes y Autómatas II, cuyo objetivo es la construcción de un analizador semántico capaz de procesar instrucciones escritas por el usuario, tales como declaraciones de variables y expresiones matemáticas. Este tipo de herramientas forma parte fundamental del estudio de los compiladores, ya que permiten comprender de manera práctica cómo un lenguaje de programación valida el significado de las instrucciones que un programador escribe, más allá de su correcta estructura sintáctica.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118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511A3-62E5-12A3-49E7-8802288A3AFC}"/>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0AF6C99D-FD76-787B-5F3E-985035E0C21F}"/>
              </a:ext>
            </a:extLst>
          </p:cNvPr>
          <p:cNvSpPr>
            <a:spLocks noGrp="1"/>
          </p:cNvSpPr>
          <p:nvPr>
            <p:ph idx="1"/>
          </p:nvPr>
        </p:nvSpPr>
        <p:spPr/>
        <p:txBody>
          <a:bodyPr/>
          <a:lstStyle/>
          <a:p>
            <a:pPr marL="0" indent="0" algn="just">
              <a:buNone/>
            </a:pPr>
            <a:r>
              <a:rPr lang="es-MX" sz="1800" dirty="0">
                <a:effectLst/>
                <a:latin typeface="Arial" panose="020B0604020202020204" pitchFamily="34" charset="0"/>
                <a:ea typeface="Calibri" panose="020F0502020204030204" pitchFamily="34" charset="0"/>
                <a:cs typeface="Arial" panose="020B0604020202020204" pitchFamily="34" charset="0"/>
              </a:rPr>
              <a:t>El estudio de los analizadores semánticos es esencial dentro de la formación de un Ingeniero en Sistemas Computacionales, ya que constituye una de las fases más importantes en el proceso de construcción de un compilador. Mientras que el análisis léxico y sintáctico se encargan de verificar que el código esté escrito correctamente en cuanto a su forma, el análisis semántico se encarga de verificar que dicho código tenga sentido, es decir, que las variables utilizadas existan, que sus tipos sean compatibles entre sí y que las operaciones que se realizan con ellas sean válidas.</a:t>
            </a:r>
          </a:p>
          <a:p>
            <a:pPr marL="0" indent="0">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2129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9FEE4C-A1C8-3C68-62BD-EA138D2D9CB3}"/>
              </a:ext>
            </a:extLst>
          </p:cNvPr>
          <p:cNvSpPr>
            <a:spLocks noGrp="1"/>
          </p:cNvSpPr>
          <p:nvPr>
            <p:ph type="title"/>
          </p:nvPr>
        </p:nvSpPr>
        <p:spPr>
          <a:xfrm>
            <a:off x="3149600" y="365125"/>
            <a:ext cx="5435600" cy="473075"/>
          </a:xfrm>
        </p:spPr>
        <p:txBody>
          <a:bodyPr>
            <a:normAutofit fontScale="90000"/>
          </a:bodyPr>
          <a:lstStyle/>
          <a:p>
            <a:pPr algn="ctr"/>
            <a:r>
              <a:rPr lang="es-MX" dirty="0"/>
              <a:t>1. </a:t>
            </a:r>
            <a:r>
              <a:rPr lang="es-MX" dirty="0" err="1"/>
              <a:t>Main</a:t>
            </a:r>
            <a:r>
              <a:rPr lang="es-MX" dirty="0"/>
              <a:t> </a:t>
            </a:r>
            <a:r>
              <a:rPr lang="es-MX" dirty="0" err="1"/>
              <a:t>Controller</a:t>
            </a:r>
            <a:endParaRPr lang="es-MX" dirty="0"/>
          </a:p>
        </p:txBody>
      </p:sp>
      <p:pic>
        <p:nvPicPr>
          <p:cNvPr id="5" name="Marcador de contenido 4">
            <a:extLst>
              <a:ext uri="{FF2B5EF4-FFF2-40B4-BE49-F238E27FC236}">
                <a16:creationId xmlns:a16="http://schemas.microsoft.com/office/drawing/2014/main" id="{213FDD3A-E241-86D5-CE44-257A5408BFE1}"/>
              </a:ext>
            </a:extLst>
          </p:cNvPr>
          <p:cNvPicPr>
            <a:picLocks noGrp="1" noChangeAspect="1"/>
          </p:cNvPicPr>
          <p:nvPr>
            <p:ph idx="1"/>
          </p:nvPr>
        </p:nvPicPr>
        <p:blipFill>
          <a:blip r:embed="rId2"/>
          <a:stretch>
            <a:fillRect/>
          </a:stretch>
        </p:blipFill>
        <p:spPr>
          <a:xfrm>
            <a:off x="4864100" y="1444427"/>
            <a:ext cx="7001329" cy="3969145"/>
          </a:xfrm>
        </p:spPr>
      </p:pic>
      <p:sp>
        <p:nvSpPr>
          <p:cNvPr id="7" name="CuadroTexto 6">
            <a:extLst>
              <a:ext uri="{FF2B5EF4-FFF2-40B4-BE49-F238E27FC236}">
                <a16:creationId xmlns:a16="http://schemas.microsoft.com/office/drawing/2014/main" id="{A28D652A-3679-7E0A-C980-67E27A376F11}"/>
              </a:ext>
            </a:extLst>
          </p:cNvPr>
          <p:cNvSpPr txBox="1"/>
          <p:nvPr/>
        </p:nvSpPr>
        <p:spPr>
          <a:xfrm>
            <a:off x="326571" y="1232461"/>
            <a:ext cx="4267200" cy="5260414"/>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Esta clase actúa como controlador principal de la interfaz gráfica. En ella se enlazan, mediante la anotación @FXML, los distintos componentes visuales de la aplicación: el área de texto donde se escribe el código de entrada (</a:t>
            </a:r>
            <a:r>
              <a:rPr lang="es-MX" sz="1800" dirty="0" err="1">
                <a:effectLst/>
                <a:latin typeface="Calibri" panose="020F0502020204030204" pitchFamily="34" charset="0"/>
                <a:ea typeface="Calibri" panose="020F0502020204030204" pitchFamily="34" charset="0"/>
              </a:rPr>
              <a:t>sourceArea</a:t>
            </a:r>
            <a:r>
              <a:rPr lang="es-MX" sz="1800" dirty="0">
                <a:effectLst/>
                <a:latin typeface="Calibri" panose="020F0502020204030204" pitchFamily="34" charset="0"/>
                <a:ea typeface="Calibri" panose="020F0502020204030204" pitchFamily="34" charset="0"/>
              </a:rPr>
              <a:t>), el área de salida (</a:t>
            </a:r>
            <a:r>
              <a:rPr lang="es-MX" sz="1800" dirty="0" err="1">
                <a:effectLst/>
                <a:latin typeface="Calibri" panose="020F0502020204030204" pitchFamily="34" charset="0"/>
                <a:ea typeface="Calibri" panose="020F0502020204030204" pitchFamily="34" charset="0"/>
              </a:rPr>
              <a:t>outputArea</a:t>
            </a:r>
            <a:r>
              <a:rPr lang="es-MX" sz="1800" dirty="0">
                <a:effectLst/>
                <a:latin typeface="Calibri" panose="020F0502020204030204" pitchFamily="34" charset="0"/>
                <a:ea typeface="Calibri" panose="020F0502020204030204" pitchFamily="34" charset="0"/>
              </a:rPr>
              <a:t>), el área del árbol de expresiones (</a:t>
            </a:r>
            <a:r>
              <a:rPr lang="es-MX" sz="1800" dirty="0" err="1">
                <a:effectLst/>
                <a:latin typeface="Calibri" panose="020F0502020204030204" pitchFamily="34" charset="0"/>
                <a:ea typeface="Calibri" panose="020F0502020204030204" pitchFamily="34" charset="0"/>
              </a:rPr>
              <a:t>treeArea</a:t>
            </a:r>
            <a:r>
              <a:rPr lang="es-MX" sz="1800" dirty="0">
                <a:effectLst/>
                <a:latin typeface="Calibri" panose="020F0502020204030204" pitchFamily="34" charset="0"/>
                <a:ea typeface="Calibri" panose="020F0502020204030204" pitchFamily="34" charset="0"/>
              </a:rPr>
              <a:t>), el área de la pila semántica (</a:t>
            </a:r>
            <a:r>
              <a:rPr lang="es-MX" sz="1800" dirty="0" err="1">
                <a:effectLst/>
                <a:latin typeface="Calibri" panose="020F0502020204030204" pitchFamily="34" charset="0"/>
                <a:ea typeface="Calibri" panose="020F0502020204030204" pitchFamily="34" charset="0"/>
              </a:rPr>
              <a:t>stackArea</a:t>
            </a:r>
            <a:r>
              <a:rPr lang="es-MX" sz="1800" dirty="0">
                <a:effectLst/>
                <a:latin typeface="Calibri" panose="020F0502020204030204" pitchFamily="34" charset="0"/>
                <a:ea typeface="Calibri" panose="020F0502020204030204" pitchFamily="34" charset="0"/>
              </a:rPr>
              <a:t>), el área del esquema de traducción (</a:t>
            </a:r>
            <a:r>
              <a:rPr lang="es-MX" sz="1800" dirty="0" err="1">
                <a:effectLst/>
                <a:latin typeface="Calibri" panose="020F0502020204030204" pitchFamily="34" charset="0"/>
                <a:ea typeface="Calibri" panose="020F0502020204030204" pitchFamily="34" charset="0"/>
              </a:rPr>
              <a:t>translationArea</a:t>
            </a:r>
            <a:r>
              <a:rPr lang="es-MX" sz="1800" dirty="0">
                <a:effectLst/>
                <a:latin typeface="Calibri" panose="020F0502020204030204" pitchFamily="34" charset="0"/>
                <a:ea typeface="Calibri" panose="020F0502020204030204" pitchFamily="34" charset="0"/>
              </a:rPr>
              <a:t>), así como las tablas de símbolos y de expresiones (</a:t>
            </a:r>
            <a:r>
              <a:rPr lang="es-MX" sz="1800" dirty="0" err="1">
                <a:effectLst/>
                <a:latin typeface="Calibri" panose="020F0502020204030204" pitchFamily="34" charset="0"/>
                <a:ea typeface="Calibri" panose="020F0502020204030204" pitchFamily="34" charset="0"/>
              </a:rPr>
              <a:t>symbolTable</a:t>
            </a:r>
            <a:r>
              <a:rPr lang="es-MX" sz="1800" dirty="0">
                <a:effectLst/>
                <a:latin typeface="Calibri" panose="020F0502020204030204" pitchFamily="34" charset="0"/>
                <a:ea typeface="Calibri" panose="020F0502020204030204" pitchFamily="34" charset="0"/>
              </a:rPr>
              <a:t> y </a:t>
            </a:r>
            <a:r>
              <a:rPr lang="es-MX" sz="1800" dirty="0" err="1">
                <a:effectLst/>
                <a:latin typeface="Calibri" panose="020F0502020204030204" pitchFamily="34" charset="0"/>
                <a:ea typeface="Calibri" panose="020F0502020204030204" pitchFamily="34" charset="0"/>
              </a:rPr>
              <a:t>expressionTable</a:t>
            </a:r>
            <a:r>
              <a:rPr lang="es-MX" sz="1800" dirty="0">
                <a:effectLst/>
                <a:latin typeface="Calibri" panose="020F0502020204030204" pitchFamily="34" charset="0"/>
                <a:ea typeface="Calibri" panose="020F0502020204030204" pitchFamily="34" charset="0"/>
              </a:rPr>
              <a:t>). Es la clase encargada de conectar la interfaz gráfica con la lógica de análisis implementada en la clase </a:t>
            </a:r>
            <a:r>
              <a:rPr lang="es-MX" sz="1800" dirty="0" err="1">
                <a:effectLst/>
                <a:latin typeface="Calibri" panose="020F0502020204030204" pitchFamily="34" charset="0"/>
                <a:ea typeface="Calibri" panose="020F0502020204030204" pitchFamily="34" charset="0"/>
              </a:rPr>
              <a:t>SemanticAnalyzer</a:t>
            </a:r>
            <a:r>
              <a:rPr lang="es-MX" sz="1800" dirty="0">
                <a:effectLst/>
                <a:latin typeface="Calibri" panose="020F0502020204030204" pitchFamily="34" charset="0"/>
                <a:ea typeface="Calibri" panose="020F0502020204030204" pitchFamily="34" charset="0"/>
              </a:rPr>
              <a:t>.</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3255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C5342A-B5FD-4C5C-7D32-A3E743CDF9C6}"/>
              </a:ext>
            </a:extLst>
          </p:cNvPr>
          <p:cNvSpPr>
            <a:spLocks noGrp="1"/>
          </p:cNvSpPr>
          <p:nvPr>
            <p:ph type="title"/>
          </p:nvPr>
        </p:nvSpPr>
        <p:spPr>
          <a:xfrm>
            <a:off x="3892550" y="301625"/>
            <a:ext cx="4406900" cy="790575"/>
          </a:xfrm>
        </p:spPr>
        <p:txBody>
          <a:bodyPr/>
          <a:lstStyle/>
          <a:p>
            <a:r>
              <a:rPr lang="es-MX" dirty="0"/>
              <a:t>2. </a:t>
            </a:r>
            <a:r>
              <a:rPr lang="es-MX" dirty="0" err="1"/>
              <a:t>ExpressionRow</a:t>
            </a:r>
            <a:endParaRPr lang="es-MX" dirty="0"/>
          </a:p>
        </p:txBody>
      </p:sp>
      <p:pic>
        <p:nvPicPr>
          <p:cNvPr id="5" name="Marcador de contenido 4">
            <a:extLst>
              <a:ext uri="{FF2B5EF4-FFF2-40B4-BE49-F238E27FC236}">
                <a16:creationId xmlns:a16="http://schemas.microsoft.com/office/drawing/2014/main" id="{C4DD2E51-D0DA-23E1-870B-8BE826C65287}"/>
              </a:ext>
            </a:extLst>
          </p:cNvPr>
          <p:cNvPicPr>
            <a:picLocks noGrp="1" noChangeAspect="1"/>
          </p:cNvPicPr>
          <p:nvPr>
            <p:ph idx="1"/>
          </p:nvPr>
        </p:nvPicPr>
        <p:blipFill>
          <a:blip r:embed="rId2"/>
          <a:stretch>
            <a:fillRect/>
          </a:stretch>
        </p:blipFill>
        <p:spPr>
          <a:xfrm>
            <a:off x="3587300" y="1253331"/>
            <a:ext cx="8283114" cy="4351338"/>
          </a:xfrm>
        </p:spPr>
      </p:pic>
      <p:sp>
        <p:nvSpPr>
          <p:cNvPr id="7" name="CuadroTexto 6">
            <a:extLst>
              <a:ext uri="{FF2B5EF4-FFF2-40B4-BE49-F238E27FC236}">
                <a16:creationId xmlns:a16="http://schemas.microsoft.com/office/drawing/2014/main" id="{31002C17-C541-526A-2E6C-83EA1AE6AB04}"/>
              </a:ext>
            </a:extLst>
          </p:cNvPr>
          <p:cNvSpPr txBox="1"/>
          <p:nvPr/>
        </p:nvSpPr>
        <p:spPr>
          <a:xfrm>
            <a:off x="321586" y="1690688"/>
            <a:ext cx="3048000" cy="3182923"/>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Para representar la información generada durante el análisis se emplearon dos registros (</a:t>
            </a:r>
            <a:r>
              <a:rPr lang="es-MX" sz="1800" dirty="0" err="1">
                <a:effectLst/>
                <a:latin typeface="Calibri" panose="020F0502020204030204" pitchFamily="34" charset="0"/>
                <a:ea typeface="Calibri" panose="020F0502020204030204" pitchFamily="34" charset="0"/>
              </a:rPr>
              <a:t>records</a:t>
            </a:r>
            <a:r>
              <a:rPr lang="es-MX" sz="1800" dirty="0">
                <a:effectLst/>
                <a:latin typeface="Calibri" panose="020F0502020204030204" pitchFamily="34" charset="0"/>
                <a:ea typeface="Calibri" panose="020F0502020204030204" pitchFamily="34" charset="0"/>
              </a:rPr>
              <a:t>) de Java. La clase </a:t>
            </a:r>
            <a:r>
              <a:rPr lang="es-MX" sz="1800" dirty="0" err="1">
                <a:effectLst/>
                <a:latin typeface="Calibri" panose="020F0502020204030204" pitchFamily="34" charset="0"/>
                <a:ea typeface="Calibri" panose="020F0502020204030204" pitchFamily="34" charset="0"/>
              </a:rPr>
              <a:t>ExpressionRow</a:t>
            </a:r>
            <a:r>
              <a:rPr lang="es-MX" sz="1800" dirty="0">
                <a:effectLst/>
                <a:latin typeface="Calibri" panose="020F0502020204030204" pitchFamily="34" charset="0"/>
                <a:ea typeface="Calibri" panose="020F0502020204030204" pitchFamily="34" charset="0"/>
              </a:rPr>
              <a:t> almacena los datos de cada expresión analizada: la expresión, su tipo, el resultado obtenido y el estado (correcto o con error).</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88439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791B25-0BCB-1AFE-36E0-06C6543B38CB}"/>
              </a:ext>
            </a:extLst>
          </p:cNvPr>
          <p:cNvSpPr>
            <a:spLocks noGrp="1"/>
          </p:cNvSpPr>
          <p:nvPr>
            <p:ph type="title"/>
          </p:nvPr>
        </p:nvSpPr>
        <p:spPr>
          <a:xfrm>
            <a:off x="2184400" y="365125"/>
            <a:ext cx="7404100" cy="555397"/>
          </a:xfrm>
        </p:spPr>
        <p:txBody>
          <a:bodyPr>
            <a:normAutofit fontScale="90000"/>
          </a:bodyPr>
          <a:lstStyle/>
          <a:p>
            <a:pPr algn="ctr"/>
            <a:r>
              <a:rPr lang="es-MX" dirty="0"/>
              <a:t>3. Symbol</a:t>
            </a:r>
          </a:p>
        </p:txBody>
      </p:sp>
      <p:pic>
        <p:nvPicPr>
          <p:cNvPr id="5" name="Marcador de contenido 4">
            <a:extLst>
              <a:ext uri="{FF2B5EF4-FFF2-40B4-BE49-F238E27FC236}">
                <a16:creationId xmlns:a16="http://schemas.microsoft.com/office/drawing/2014/main" id="{51C92EAD-52E4-A9D0-7F1D-D10155E71A29}"/>
              </a:ext>
            </a:extLst>
          </p:cNvPr>
          <p:cNvPicPr>
            <a:picLocks noGrp="1" noChangeAspect="1"/>
          </p:cNvPicPr>
          <p:nvPr>
            <p:ph idx="1"/>
          </p:nvPr>
        </p:nvPicPr>
        <p:blipFill>
          <a:blip r:embed="rId2"/>
          <a:stretch>
            <a:fillRect/>
          </a:stretch>
        </p:blipFill>
        <p:spPr>
          <a:xfrm>
            <a:off x="1923067" y="1027340"/>
            <a:ext cx="8345866" cy="4351338"/>
          </a:xfrm>
        </p:spPr>
      </p:pic>
      <p:sp>
        <p:nvSpPr>
          <p:cNvPr id="7" name="CuadroTexto 6">
            <a:extLst>
              <a:ext uri="{FF2B5EF4-FFF2-40B4-BE49-F238E27FC236}">
                <a16:creationId xmlns:a16="http://schemas.microsoft.com/office/drawing/2014/main" id="{035A4FFA-5D4B-A4F3-71E3-D895222E3216}"/>
              </a:ext>
            </a:extLst>
          </p:cNvPr>
          <p:cNvSpPr txBox="1"/>
          <p:nvPr/>
        </p:nvSpPr>
        <p:spPr>
          <a:xfrm>
            <a:off x="1206500" y="5475971"/>
            <a:ext cx="9779000" cy="759182"/>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Por su parte, la clase Symbol representa cada variable identificada dentro del código, almacenando su nombre, tipo, dirección de memoria asignada y valor.</a:t>
            </a:r>
          </a:p>
        </p:txBody>
      </p:sp>
    </p:spTree>
    <p:extLst>
      <p:ext uri="{BB962C8B-B14F-4D97-AF65-F5344CB8AC3E}">
        <p14:creationId xmlns:p14="http://schemas.microsoft.com/office/powerpoint/2010/main" val="240514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89988-8279-78FA-E4DE-AE8F3FC59BE7}"/>
              </a:ext>
            </a:extLst>
          </p:cNvPr>
          <p:cNvSpPr>
            <a:spLocks noGrp="1"/>
          </p:cNvSpPr>
          <p:nvPr>
            <p:ph type="title"/>
          </p:nvPr>
        </p:nvSpPr>
        <p:spPr>
          <a:xfrm>
            <a:off x="2532623" y="93394"/>
            <a:ext cx="6680200" cy="676275"/>
          </a:xfrm>
        </p:spPr>
        <p:txBody>
          <a:bodyPr>
            <a:normAutofit/>
          </a:bodyPr>
          <a:lstStyle/>
          <a:p>
            <a:pPr algn="ctr"/>
            <a:r>
              <a:rPr lang="es-MX" dirty="0"/>
              <a:t>4. </a:t>
            </a:r>
            <a:r>
              <a:rPr lang="es-MX" dirty="0" err="1"/>
              <a:t>Semantic</a:t>
            </a:r>
            <a:r>
              <a:rPr lang="es-MX" dirty="0"/>
              <a:t> </a:t>
            </a:r>
            <a:r>
              <a:rPr lang="es-MX" dirty="0" err="1"/>
              <a:t>Analyzer</a:t>
            </a:r>
            <a:endParaRPr lang="es-MX" dirty="0"/>
          </a:p>
        </p:txBody>
      </p:sp>
      <p:pic>
        <p:nvPicPr>
          <p:cNvPr id="5" name="Marcador de contenido 4">
            <a:extLst>
              <a:ext uri="{FF2B5EF4-FFF2-40B4-BE49-F238E27FC236}">
                <a16:creationId xmlns:a16="http://schemas.microsoft.com/office/drawing/2014/main" id="{25BA2C2C-0F14-3360-EC0D-064E22CAA6B6}"/>
              </a:ext>
            </a:extLst>
          </p:cNvPr>
          <p:cNvPicPr>
            <a:picLocks noGrp="1" noChangeAspect="1"/>
          </p:cNvPicPr>
          <p:nvPr>
            <p:ph idx="1"/>
          </p:nvPr>
        </p:nvPicPr>
        <p:blipFill>
          <a:blip r:embed="rId2"/>
          <a:stretch>
            <a:fillRect/>
          </a:stretch>
        </p:blipFill>
        <p:spPr>
          <a:xfrm>
            <a:off x="2861050" y="3079750"/>
            <a:ext cx="7177925" cy="3778250"/>
          </a:xfrm>
        </p:spPr>
      </p:pic>
      <p:sp>
        <p:nvSpPr>
          <p:cNvPr id="7" name="CuadroTexto 6">
            <a:extLst>
              <a:ext uri="{FF2B5EF4-FFF2-40B4-BE49-F238E27FC236}">
                <a16:creationId xmlns:a16="http://schemas.microsoft.com/office/drawing/2014/main" id="{57A3B35C-EE7B-7415-E5BC-E42EADDAEEBB}"/>
              </a:ext>
            </a:extLst>
          </p:cNvPr>
          <p:cNvSpPr txBox="1"/>
          <p:nvPr/>
        </p:nvSpPr>
        <p:spPr>
          <a:xfrm>
            <a:off x="442912" y="769669"/>
            <a:ext cx="12014199" cy="2144177"/>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Esta es la clase central del proyecto, encargada de realizar todo el proceso de análisis semántico. Internamente utiliza una tabla de símbolos (</a:t>
            </a:r>
            <a:r>
              <a:rPr lang="es-MX" sz="1800" dirty="0" err="1">
                <a:effectLst/>
                <a:latin typeface="Calibri" panose="020F0502020204030204" pitchFamily="34" charset="0"/>
                <a:ea typeface="Calibri" panose="020F0502020204030204" pitchFamily="34" charset="0"/>
              </a:rPr>
              <a:t>Map</a:t>
            </a:r>
            <a:r>
              <a:rPr lang="es-MX" sz="1800" dirty="0">
                <a:effectLst/>
                <a:latin typeface="Calibri" panose="020F0502020204030204" pitchFamily="34" charset="0"/>
                <a:ea typeface="Calibri" panose="020F0502020204030204" pitchFamily="34" charset="0"/>
              </a:rPr>
              <a:t>&lt;</a:t>
            </a:r>
            <a:r>
              <a:rPr lang="es-MX" sz="1800" dirty="0" err="1">
                <a:effectLst/>
                <a:latin typeface="Calibri" panose="020F0502020204030204" pitchFamily="34" charset="0"/>
                <a:ea typeface="Calibri" panose="020F0502020204030204" pitchFamily="34" charset="0"/>
              </a:rPr>
              <a:t>String</a:t>
            </a:r>
            <a:r>
              <a:rPr lang="es-MX" sz="1800" dirty="0">
                <a:effectLst/>
                <a:latin typeface="Calibri" panose="020F0502020204030204" pitchFamily="34" charset="0"/>
                <a:ea typeface="Calibri" panose="020F0502020204030204" pitchFamily="34" charset="0"/>
              </a:rPr>
              <a:t>, Symbol&gt;), una lista de expresiones (</a:t>
            </a:r>
            <a:r>
              <a:rPr lang="es-MX" sz="1800" dirty="0" err="1">
                <a:effectLst/>
                <a:latin typeface="Calibri" panose="020F0502020204030204" pitchFamily="34" charset="0"/>
                <a:ea typeface="Calibri" panose="020F0502020204030204" pitchFamily="34" charset="0"/>
              </a:rPr>
              <a:t>List</a:t>
            </a:r>
            <a:r>
              <a:rPr lang="es-MX" sz="1800" dirty="0">
                <a:effectLst/>
                <a:latin typeface="Calibri" panose="020F0502020204030204" pitchFamily="34" charset="0"/>
                <a:ea typeface="Calibri" panose="020F0502020204030204" pitchFamily="34" charset="0"/>
              </a:rPr>
              <a:t>&lt;</a:t>
            </a:r>
            <a:r>
              <a:rPr lang="es-MX" sz="1800" dirty="0" err="1">
                <a:effectLst/>
                <a:latin typeface="Calibri" panose="020F0502020204030204" pitchFamily="34" charset="0"/>
                <a:ea typeface="Calibri" panose="020F0502020204030204" pitchFamily="34" charset="0"/>
              </a:rPr>
              <a:t>ExpressionRow</a:t>
            </a:r>
            <a:r>
              <a:rPr lang="es-MX" sz="1800" dirty="0">
                <a:effectLst/>
                <a:latin typeface="Calibri" panose="020F0502020204030204" pitchFamily="34" charset="0"/>
                <a:ea typeface="Calibri" panose="020F0502020204030204" pitchFamily="34" charset="0"/>
              </a:rPr>
              <a:t>&gt;), una lista de errores, una pila semántica y una lista para el esquema de traducción. El método </a:t>
            </a:r>
            <a:r>
              <a:rPr lang="es-MX" sz="1800" dirty="0" err="1">
                <a:effectLst/>
                <a:latin typeface="Calibri" panose="020F0502020204030204" pitchFamily="34" charset="0"/>
                <a:ea typeface="Calibri" panose="020F0502020204030204" pitchFamily="34" charset="0"/>
              </a:rPr>
              <a:t>analyze</a:t>
            </a:r>
            <a:r>
              <a:rPr lang="es-MX" sz="1800" dirty="0">
                <a:effectLst/>
                <a:latin typeface="Calibri" panose="020F0502020204030204" pitchFamily="34" charset="0"/>
                <a:ea typeface="Calibri" panose="020F0502020204030204" pitchFamily="34" charset="0"/>
              </a:rPr>
              <a:t>() recibe como parámetro el código fuente escrito por el usuario, lo divide en líneas mediante expresiones regulares y procesa cada una de ellas para identificar declaraciones de variables y expresiones matemáticas, asignando direcciones de memoria de forma incremental a partir del valor 1000 y validando la compatibilidad de tipos en cada operación.</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743935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6BD07D-7498-E263-3EC0-02047CBD06A4}"/>
              </a:ext>
            </a:extLst>
          </p:cNvPr>
          <p:cNvSpPr>
            <a:spLocks noGrp="1"/>
          </p:cNvSpPr>
          <p:nvPr>
            <p:ph type="title"/>
          </p:nvPr>
        </p:nvSpPr>
        <p:spPr>
          <a:xfrm>
            <a:off x="1346200" y="92074"/>
            <a:ext cx="9499600" cy="409575"/>
          </a:xfrm>
        </p:spPr>
        <p:txBody>
          <a:bodyPr>
            <a:normAutofit fontScale="90000"/>
          </a:bodyPr>
          <a:lstStyle/>
          <a:p>
            <a:pPr algn="ctr"/>
            <a:r>
              <a:rPr lang="es-MX" dirty="0"/>
              <a:t>5. </a:t>
            </a:r>
            <a:r>
              <a:rPr lang="es-MX" dirty="0" err="1"/>
              <a:t>MainAplication</a:t>
            </a:r>
            <a:endParaRPr lang="es-MX" dirty="0"/>
          </a:p>
        </p:txBody>
      </p:sp>
      <p:pic>
        <p:nvPicPr>
          <p:cNvPr id="5" name="Marcador de contenido 4">
            <a:extLst>
              <a:ext uri="{FF2B5EF4-FFF2-40B4-BE49-F238E27FC236}">
                <a16:creationId xmlns:a16="http://schemas.microsoft.com/office/drawing/2014/main" id="{13FCC1AE-9A81-7D45-9E0B-981F79604967}"/>
              </a:ext>
            </a:extLst>
          </p:cNvPr>
          <p:cNvPicPr>
            <a:picLocks noGrp="1" noChangeAspect="1"/>
          </p:cNvPicPr>
          <p:nvPr>
            <p:ph idx="1"/>
          </p:nvPr>
        </p:nvPicPr>
        <p:blipFill>
          <a:blip r:embed="rId2"/>
          <a:stretch>
            <a:fillRect/>
          </a:stretch>
        </p:blipFill>
        <p:spPr>
          <a:xfrm>
            <a:off x="3045928" y="2952221"/>
            <a:ext cx="7189170" cy="3778250"/>
          </a:xfrm>
        </p:spPr>
      </p:pic>
      <p:sp>
        <p:nvSpPr>
          <p:cNvPr id="7" name="CuadroTexto 6">
            <a:extLst>
              <a:ext uri="{FF2B5EF4-FFF2-40B4-BE49-F238E27FC236}">
                <a16:creationId xmlns:a16="http://schemas.microsoft.com/office/drawing/2014/main" id="{6704AA38-3469-E4EA-0368-0833864BE106}"/>
              </a:ext>
            </a:extLst>
          </p:cNvPr>
          <p:cNvSpPr txBox="1"/>
          <p:nvPr/>
        </p:nvSpPr>
        <p:spPr>
          <a:xfrm>
            <a:off x="596900" y="1279524"/>
            <a:ext cx="11595100" cy="1105431"/>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La clase </a:t>
            </a:r>
            <a:r>
              <a:rPr lang="es-MX" sz="1800" dirty="0" err="1">
                <a:effectLst/>
                <a:latin typeface="Calibri" panose="020F0502020204030204" pitchFamily="34" charset="0"/>
                <a:ea typeface="Calibri" panose="020F0502020204030204" pitchFamily="34" charset="0"/>
              </a:rPr>
              <a:t>MainApplication</a:t>
            </a:r>
            <a:r>
              <a:rPr lang="es-MX" sz="1800" dirty="0">
                <a:effectLst/>
                <a:latin typeface="Calibri" panose="020F0502020204030204" pitchFamily="34" charset="0"/>
                <a:ea typeface="Calibri" panose="020F0502020204030204" pitchFamily="34" charset="0"/>
              </a:rPr>
              <a:t> extiende de </a:t>
            </a:r>
            <a:r>
              <a:rPr lang="es-MX" sz="1800" dirty="0" err="1">
                <a:effectLst/>
                <a:latin typeface="Calibri" panose="020F0502020204030204" pitchFamily="34" charset="0"/>
                <a:ea typeface="Calibri" panose="020F0502020204030204" pitchFamily="34" charset="0"/>
              </a:rPr>
              <a:t>Application</a:t>
            </a:r>
            <a:r>
              <a:rPr lang="es-MX" sz="1800" dirty="0">
                <a:effectLst/>
                <a:latin typeface="Calibri" panose="020F0502020204030204" pitchFamily="34" charset="0"/>
                <a:ea typeface="Calibri" panose="020F0502020204030204" pitchFamily="34" charset="0"/>
              </a:rPr>
              <a:t> (</a:t>
            </a:r>
            <a:r>
              <a:rPr lang="es-MX" sz="1800" dirty="0" err="1">
                <a:effectLst/>
                <a:latin typeface="Calibri" panose="020F0502020204030204" pitchFamily="34" charset="0"/>
                <a:ea typeface="Calibri" panose="020F0502020204030204" pitchFamily="34" charset="0"/>
              </a:rPr>
              <a:t>JavaFX</a:t>
            </a:r>
            <a:r>
              <a:rPr lang="es-MX" sz="1800" dirty="0">
                <a:effectLst/>
                <a:latin typeface="Calibri" panose="020F0502020204030204" pitchFamily="34" charset="0"/>
                <a:ea typeface="Calibri" panose="020F0502020204030204" pitchFamily="34" charset="0"/>
              </a:rPr>
              <a:t>) y es el punto de entrada del programa. En su método </a:t>
            </a:r>
            <a:r>
              <a:rPr lang="es-MX" sz="1800" dirty="0" err="1">
                <a:effectLst/>
                <a:latin typeface="Calibri" panose="020F0502020204030204" pitchFamily="34" charset="0"/>
                <a:ea typeface="Calibri" panose="020F0502020204030204" pitchFamily="34" charset="0"/>
              </a:rPr>
              <a:t>start</a:t>
            </a:r>
            <a:r>
              <a:rPr lang="es-MX" sz="1800" dirty="0">
                <a:effectLst/>
                <a:latin typeface="Calibri" panose="020F0502020204030204" pitchFamily="34" charset="0"/>
                <a:ea typeface="Calibri" panose="020F0502020204030204" pitchFamily="34" charset="0"/>
              </a:rPr>
              <a:t>() carga el archivo de vista </a:t>
            </a:r>
            <a:r>
              <a:rPr lang="es-MX" sz="1800" dirty="0" err="1">
                <a:effectLst/>
                <a:latin typeface="Calibri" panose="020F0502020204030204" pitchFamily="34" charset="0"/>
                <a:ea typeface="Calibri" panose="020F0502020204030204" pitchFamily="34" charset="0"/>
              </a:rPr>
              <a:t>analisissemantico.fxml</a:t>
            </a:r>
            <a:r>
              <a:rPr lang="es-MX" sz="1800" dirty="0">
                <a:effectLst/>
                <a:latin typeface="Calibri" panose="020F0502020204030204" pitchFamily="34" charset="0"/>
                <a:ea typeface="Calibri" panose="020F0502020204030204" pitchFamily="34" charset="0"/>
              </a:rPr>
              <a:t> mediante un </a:t>
            </a:r>
            <a:r>
              <a:rPr lang="es-MX" sz="1800" dirty="0" err="1">
                <a:effectLst/>
                <a:latin typeface="Calibri" panose="020F0502020204030204" pitchFamily="34" charset="0"/>
                <a:ea typeface="Calibri" panose="020F0502020204030204" pitchFamily="34" charset="0"/>
              </a:rPr>
              <a:t>FXMLLoader</a:t>
            </a:r>
            <a:r>
              <a:rPr lang="es-MX" sz="1800" dirty="0">
                <a:effectLst/>
                <a:latin typeface="Calibri" panose="020F0502020204030204" pitchFamily="34" charset="0"/>
                <a:ea typeface="Calibri" panose="020F0502020204030204" pitchFamily="34" charset="0"/>
              </a:rPr>
              <a:t>, configura el tamaño de la ventana (800x600) y establece el título "Análisis Semántico" antes de mostrarla en pantalla.</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271286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2327D3-6A7D-A0AB-02E7-51FB20451B17}"/>
              </a:ext>
            </a:extLst>
          </p:cNvPr>
          <p:cNvSpPr>
            <a:spLocks noGrp="1"/>
          </p:cNvSpPr>
          <p:nvPr>
            <p:ph type="title"/>
          </p:nvPr>
        </p:nvSpPr>
        <p:spPr>
          <a:xfrm>
            <a:off x="934433" y="187325"/>
            <a:ext cx="9702800" cy="612775"/>
          </a:xfrm>
        </p:spPr>
        <p:txBody>
          <a:bodyPr>
            <a:normAutofit fontScale="90000"/>
          </a:bodyPr>
          <a:lstStyle/>
          <a:p>
            <a:pPr algn="ctr"/>
            <a:r>
              <a:rPr lang="es-MX" dirty="0"/>
              <a:t>6. FXML</a:t>
            </a:r>
          </a:p>
        </p:txBody>
      </p:sp>
      <p:pic>
        <p:nvPicPr>
          <p:cNvPr id="5" name="Marcador de contenido 4">
            <a:extLst>
              <a:ext uri="{FF2B5EF4-FFF2-40B4-BE49-F238E27FC236}">
                <a16:creationId xmlns:a16="http://schemas.microsoft.com/office/drawing/2014/main" id="{285A1DDD-C716-C25E-B66B-C30E9F5ECF83}"/>
              </a:ext>
            </a:extLst>
          </p:cNvPr>
          <p:cNvPicPr>
            <a:picLocks noGrp="1" noChangeAspect="1"/>
          </p:cNvPicPr>
          <p:nvPr>
            <p:ph idx="1"/>
          </p:nvPr>
        </p:nvPicPr>
        <p:blipFill>
          <a:blip r:embed="rId2"/>
          <a:stretch>
            <a:fillRect/>
          </a:stretch>
        </p:blipFill>
        <p:spPr>
          <a:xfrm>
            <a:off x="2915571" y="3079750"/>
            <a:ext cx="7246683" cy="3778250"/>
          </a:xfrm>
        </p:spPr>
      </p:pic>
      <p:sp>
        <p:nvSpPr>
          <p:cNvPr id="7" name="CuadroTexto 6">
            <a:extLst>
              <a:ext uri="{FF2B5EF4-FFF2-40B4-BE49-F238E27FC236}">
                <a16:creationId xmlns:a16="http://schemas.microsoft.com/office/drawing/2014/main" id="{72D10B39-56A2-AF32-A801-F24B00242B9B}"/>
              </a:ext>
            </a:extLst>
          </p:cNvPr>
          <p:cNvSpPr txBox="1"/>
          <p:nvPr/>
        </p:nvSpPr>
        <p:spPr>
          <a:xfrm>
            <a:off x="184150" y="1214085"/>
            <a:ext cx="11823700" cy="1451679"/>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El archivo FXML define la estructura visual de la ventana principal mediante un </a:t>
            </a:r>
            <a:r>
              <a:rPr lang="es-MX" sz="1800" dirty="0" err="1">
                <a:effectLst/>
                <a:latin typeface="Calibri" panose="020F0502020204030204" pitchFamily="34" charset="0"/>
                <a:ea typeface="Calibri" panose="020F0502020204030204" pitchFamily="34" charset="0"/>
              </a:rPr>
              <a:t>BorderPane</a:t>
            </a:r>
            <a:r>
              <a:rPr lang="es-MX" sz="1800" dirty="0">
                <a:effectLst/>
                <a:latin typeface="Calibri" panose="020F0502020204030204" pitchFamily="34" charset="0"/>
                <a:ea typeface="Calibri" panose="020F0502020204030204" pitchFamily="34" charset="0"/>
              </a:rPr>
              <a:t>, que contiene en su parte superior el título de la aplicación y el nombre de la alumna, y en la parte central el área de texto para ingresar el código, los botones de acción (Ejemplo, Analizar, Mostrar árbol, Limpiar) y el panel de pestañas donde se muestran los resultados del análisis.</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41400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192F8A-D151-88CF-EE25-1B67B9318C97}"/>
              </a:ext>
            </a:extLst>
          </p:cNvPr>
          <p:cNvSpPr>
            <a:spLocks noGrp="1"/>
          </p:cNvSpPr>
          <p:nvPr>
            <p:ph type="title"/>
          </p:nvPr>
        </p:nvSpPr>
        <p:spPr/>
        <p:txBody>
          <a:bodyPr/>
          <a:lstStyle/>
          <a:p>
            <a:r>
              <a:rPr lang="es-MX" dirty="0"/>
              <a:t>Análisis semántico corriendo</a:t>
            </a:r>
          </a:p>
        </p:txBody>
      </p:sp>
      <p:pic>
        <p:nvPicPr>
          <p:cNvPr id="5" name="Marcador de contenido 4">
            <a:extLst>
              <a:ext uri="{FF2B5EF4-FFF2-40B4-BE49-F238E27FC236}">
                <a16:creationId xmlns:a16="http://schemas.microsoft.com/office/drawing/2014/main" id="{95A445EF-E98E-76C0-68E4-A1C854AE6705}"/>
              </a:ext>
            </a:extLst>
          </p:cNvPr>
          <p:cNvPicPr>
            <a:picLocks noGrp="1" noChangeAspect="1"/>
          </p:cNvPicPr>
          <p:nvPr>
            <p:ph idx="1"/>
          </p:nvPr>
        </p:nvPicPr>
        <p:blipFill>
          <a:blip r:embed="rId2"/>
          <a:stretch>
            <a:fillRect/>
          </a:stretch>
        </p:blipFill>
        <p:spPr>
          <a:xfrm>
            <a:off x="6513700" y="1533525"/>
            <a:ext cx="5336800" cy="4351338"/>
          </a:xfrm>
        </p:spPr>
      </p:pic>
      <p:sp>
        <p:nvSpPr>
          <p:cNvPr id="7" name="CuadroTexto 6">
            <a:extLst>
              <a:ext uri="{FF2B5EF4-FFF2-40B4-BE49-F238E27FC236}">
                <a16:creationId xmlns:a16="http://schemas.microsoft.com/office/drawing/2014/main" id="{4AA8175C-1A60-D72F-05D9-1B39750B9FCE}"/>
              </a:ext>
            </a:extLst>
          </p:cNvPr>
          <p:cNvSpPr txBox="1"/>
          <p:nvPr/>
        </p:nvSpPr>
        <p:spPr>
          <a:xfrm>
            <a:off x="443100" y="1930400"/>
            <a:ext cx="5856100" cy="3182923"/>
          </a:xfrm>
          <a:prstGeom prst="rect">
            <a:avLst/>
          </a:prstGeom>
          <a:noFill/>
        </p:spPr>
        <p:txBody>
          <a:bodyPr wrap="square">
            <a:spAutoFit/>
          </a:bodyPr>
          <a:lstStyle/>
          <a:p>
            <a:pPr algn="just">
              <a:lnSpc>
                <a:spcPct val="125000"/>
              </a:lnSpc>
              <a:spcAft>
                <a:spcPts val="1000"/>
              </a:spcAft>
            </a:pPr>
            <a:r>
              <a:rPr lang="es-MX" sz="1800" dirty="0">
                <a:effectLst/>
                <a:latin typeface="Calibri" panose="020F0502020204030204" pitchFamily="34" charset="0"/>
                <a:ea typeface="Calibri" panose="020F0502020204030204" pitchFamily="34" charset="0"/>
              </a:rPr>
              <a:t>Una vez ejecutada la aplicación, el usuario puede escribir o cargar un ejemplo de código en el área de texto "Código de entrada" y presionar el botón "Analizar" para que el sistema procese las instrucciones. Los resultados se muestran organizados en las pestañas correspondientes: Resultado / errores, Tabla de expresiones, Árbol de expresiones, Tabla de símbolos, Pila semántica y Esquema de traducción, permitiendo visualizar de forma clara cada etapa del análisis semántico realizado sobre el código ingresado.</a:t>
            </a:r>
            <a:endParaRPr lang="es-MX" sz="1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02229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219D54-499F-E322-2216-7DBE058B2220}"/>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0129794C-2D7B-A6FC-F43C-CC8F0A4C1867}"/>
              </a:ext>
            </a:extLst>
          </p:cNvPr>
          <p:cNvSpPr>
            <a:spLocks noGrp="1"/>
          </p:cNvSpPr>
          <p:nvPr>
            <p:ph idx="1"/>
          </p:nvPr>
        </p:nvSpPr>
        <p:spPr/>
        <p:txBody>
          <a:bodyPr>
            <a:normAutofit fontScale="92500" lnSpcReduction="20000"/>
          </a:bodyPr>
          <a:lstStyle/>
          <a:p>
            <a:pPr marL="0" indent="0" algn="just">
              <a:lnSpc>
                <a:spcPct val="125000"/>
              </a:lnSpc>
              <a:spcAft>
                <a:spcPts val="1000"/>
              </a:spcAft>
              <a:buNone/>
            </a:pPr>
            <a:r>
              <a:rPr lang="es-MX" sz="1800" dirty="0">
                <a:effectLst/>
                <a:latin typeface="Calibri" panose="020F0502020204030204" pitchFamily="34" charset="0"/>
                <a:ea typeface="Calibri" panose="020F0502020204030204" pitchFamily="34" charset="0"/>
              </a:rPr>
              <a:t>El desarrollo de este proyecto permitió comprender de forma práctica el funcionamiento de un analizador semántico dentro del proceso de compilación de un lenguaje de programación. A través de la implementación de una tabla de símbolos, una tabla de expresiones, un árbol de expresiones, una pila semántica y un esquema de traducción en notación postfija, fue posible integrar de manera funcional los conceptos teóricos revisados en la materia de Lenguajes y Autómatas II.</a:t>
            </a:r>
          </a:p>
          <a:p>
            <a:pPr marL="0" indent="0" algn="just">
              <a:lnSpc>
                <a:spcPct val="125000"/>
              </a:lnSpc>
              <a:spcAft>
                <a:spcPts val="1000"/>
              </a:spcAft>
              <a:buNone/>
            </a:pPr>
            <a:r>
              <a:rPr lang="es-MX" sz="1800" dirty="0">
                <a:effectLst/>
                <a:latin typeface="Calibri" panose="020F0502020204030204" pitchFamily="34" charset="0"/>
                <a:ea typeface="Calibri" panose="020F0502020204030204" pitchFamily="34" charset="0"/>
              </a:rPr>
              <a:t>Además de reforzar el conocimiento sobre comprobación de tipos y detección de errores semánticos, la práctica brindó experiencia en el uso de tecnologías reales de desarrollo como Java, </a:t>
            </a:r>
            <a:r>
              <a:rPr lang="es-MX" sz="1800" dirty="0" err="1">
                <a:effectLst/>
                <a:latin typeface="Calibri" panose="020F0502020204030204" pitchFamily="34" charset="0"/>
                <a:ea typeface="Calibri" panose="020F0502020204030204" pitchFamily="34" charset="0"/>
              </a:rPr>
              <a:t>JavaFX</a:t>
            </a:r>
            <a:r>
              <a:rPr lang="es-MX" sz="1800" dirty="0">
                <a:effectLst/>
                <a:latin typeface="Calibri" panose="020F0502020204030204" pitchFamily="34" charset="0"/>
                <a:ea typeface="Calibri" panose="020F0502020204030204" pitchFamily="34" charset="0"/>
              </a:rPr>
              <a:t> y Maven, así como en la organización de un proyecto de software bajo el patrón Modelo–Vista–Controlador. En conjunto, este trabajo confirma que la teoría de compiladores puede llevarse a la práctica mediante herramientas visuales que facilitan la comprensión de procesos que, de otra manera, resultarían abstractos, sentando así una base sólida para el estudio de temas más avanzados relacionados con el diseño de lenguajes y compiladores.</a:t>
            </a:r>
          </a:p>
          <a:p>
            <a:pPr marL="0" indent="0">
              <a:buNone/>
            </a:pPr>
            <a:endParaRPr lang="es-MX" dirty="0"/>
          </a:p>
        </p:txBody>
      </p:sp>
    </p:spTree>
    <p:extLst>
      <p:ext uri="{BB962C8B-B14F-4D97-AF65-F5344CB8AC3E}">
        <p14:creationId xmlns:p14="http://schemas.microsoft.com/office/powerpoint/2010/main" val="1139670822"/>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70</TotalTime>
  <Words>999</Words>
  <Application>Microsoft Office PowerPoint</Application>
  <PresentationFormat>Panorámica</PresentationFormat>
  <Paragraphs>43</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Century Gothic</vt:lpstr>
      <vt:lpstr>Wingdings 3</vt:lpstr>
      <vt:lpstr>Espiral</vt:lpstr>
      <vt:lpstr>Presentación de PowerPoint</vt:lpstr>
      <vt:lpstr>Introducción </vt:lpstr>
      <vt:lpstr>justificación</vt:lpstr>
      <vt:lpstr>1. Main Controller</vt:lpstr>
      <vt:lpstr>2. ExpressionRow</vt:lpstr>
      <vt:lpstr>3. Symbol</vt:lpstr>
      <vt:lpstr>4. Semantic Analyzer</vt:lpstr>
      <vt:lpstr>5. MainAplication</vt:lpstr>
      <vt:lpstr>6. FXML</vt:lpstr>
      <vt:lpstr>Análisis semántico corriendo</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3</cp:revision>
  <dcterms:created xsi:type="dcterms:W3CDTF">2026-08-31T04:51:22Z</dcterms:created>
  <dcterms:modified xsi:type="dcterms:W3CDTF">2026-08-31T14:04:01Z</dcterms:modified>
</cp:coreProperties>
</file>