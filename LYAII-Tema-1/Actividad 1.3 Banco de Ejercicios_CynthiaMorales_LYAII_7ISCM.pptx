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AA78D8-072E-22C7-908A-7A70E731554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71474FA-A133-5053-27B9-E1EE80E51F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6718EE2-4B62-FD1C-CD30-7153A8E53A96}"/>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EC32804D-BCA6-5067-31C1-9BC5AA7F96E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6762FD-90D6-00E8-ECE4-113DE3A4EDEC}"/>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121943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AB8654-E6B4-9A9F-6E65-5CB4A0E1364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66067D9-B9C6-6D67-3073-5EF618669D5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FF0D29A-BA1B-E5D9-1B92-694D58EB970B}"/>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81187EFC-338A-4554-72F1-995E760EB2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C72719A-E419-8F24-DB00-BA82D52AB248}"/>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184427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0A0C9-A7A1-5A0F-11FD-51782553491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A73B144-AC41-D5CC-AED5-37C417BD32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5175B3C-A726-658C-72D5-66D024A3F333}"/>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F75AAECD-3DED-B15B-6FE2-0A0528B4847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B0D79C3-2A2E-B0AF-8D87-625E6709CD3C}"/>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2772007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305E8-FD7D-6078-E979-9C72A9DAC93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6ECEEB8-1A57-7B55-C2DC-CD820C77C49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44E25F8-3577-E273-B05C-A6F6E8B715B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233429A-3FD1-2AF5-25E8-71FE3A00DFBE}"/>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6" name="Marcador de pie de página 5">
            <a:extLst>
              <a:ext uri="{FF2B5EF4-FFF2-40B4-BE49-F238E27FC236}">
                <a16:creationId xmlns:a16="http://schemas.microsoft.com/office/drawing/2014/main" id="{C3781D85-5A9F-B31E-9BD0-0BFEE4FD32A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54EBFF0-A4AC-DC90-C484-36D2EA355CC4}"/>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225634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0DB0C0-C169-6CBA-7D12-B2E0ECFA779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6B71697-0F72-8D4E-5C2D-D4209061B7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6797F2B-8885-F365-075A-71251BFACFF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AA30A38-F536-DE2F-1884-E53D6F33E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669F513-A0CF-524C-1DA5-200D68F0903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626C51E-9A81-5FEB-0384-234D6E101BBC}"/>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8" name="Marcador de pie de página 7">
            <a:extLst>
              <a:ext uri="{FF2B5EF4-FFF2-40B4-BE49-F238E27FC236}">
                <a16:creationId xmlns:a16="http://schemas.microsoft.com/office/drawing/2014/main" id="{5012B877-BE2A-4CC8-B11A-9F67605C828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474BBFC-28C4-82D6-DBDA-A9F787EDAB17}"/>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129553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43745-FF9B-B0D7-09BA-268A1006FB2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851E14D-FDA6-CDEA-93A2-7B33EDD47D0A}"/>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4" name="Marcador de pie de página 3">
            <a:extLst>
              <a:ext uri="{FF2B5EF4-FFF2-40B4-BE49-F238E27FC236}">
                <a16:creationId xmlns:a16="http://schemas.microsoft.com/office/drawing/2014/main" id="{1BFD0A5B-3619-A16F-0E42-71FED7920C4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180E14A-E7F7-3570-3AE1-28DA83A69851}"/>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2439916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414EE62-8E91-BB90-F0A0-BDD49BB40E04}"/>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3" name="Marcador de pie de página 2">
            <a:extLst>
              <a:ext uri="{FF2B5EF4-FFF2-40B4-BE49-F238E27FC236}">
                <a16:creationId xmlns:a16="http://schemas.microsoft.com/office/drawing/2014/main" id="{BD2B9294-A37B-C65A-5A6F-BEE2660C1D8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F6A37C2-23BA-63DE-8685-4CBC3555C416}"/>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201149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7AC355-A345-7CF8-293B-83E276219CA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7FA2167-94D8-917A-F33E-3658C85F9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32312C3-338E-A0EA-2DC6-4BF3739C36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62F624-8C2C-550A-577E-9A81C798B115}"/>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6" name="Marcador de pie de página 5">
            <a:extLst>
              <a:ext uri="{FF2B5EF4-FFF2-40B4-BE49-F238E27FC236}">
                <a16:creationId xmlns:a16="http://schemas.microsoft.com/office/drawing/2014/main" id="{435B531D-BABC-F015-BE4B-E700C138A8F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10AAC15-F8DC-F55F-99A5-A2C2478A4A16}"/>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630041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685FF6-49DD-DDC5-7858-DE108FAC101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1EC44FEB-0081-2905-CC09-52154C6A0D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7D23CC6-CDB4-9486-46E0-C2CAC18AD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D64EC8B-3F8F-C281-4832-094146A9B14F}"/>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6" name="Marcador de pie de página 5">
            <a:extLst>
              <a:ext uri="{FF2B5EF4-FFF2-40B4-BE49-F238E27FC236}">
                <a16:creationId xmlns:a16="http://schemas.microsoft.com/office/drawing/2014/main" id="{DFF83D95-ED56-FEF5-4D93-ECFC4E6003B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1CCB343-194C-1176-2C09-17C099A9DEE9}"/>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4178710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F9210D-2F57-C48F-553F-3F3AEB6C14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89F2368-34C0-003B-F073-6AC738F32E7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03E3FE4-1554-D667-DF71-1231A01F5657}"/>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3418A374-4E07-B865-E609-CDA36BA23C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A890D5F-DF29-9930-7F9C-14B4926B2E4A}"/>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403791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D400A08-BABC-1592-7F08-B08BE5EF599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DC5E312-7E02-AEBF-A8E7-063838FC330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3D9D2BE-82EC-89D2-A73A-28277EF8497E}"/>
              </a:ext>
            </a:extLst>
          </p:cNvPr>
          <p:cNvSpPr>
            <a:spLocks noGrp="1"/>
          </p:cNvSpPr>
          <p:nvPr>
            <p:ph type="dt" sz="half" idx="10"/>
          </p:nvPr>
        </p:nvSpPr>
        <p:spPr/>
        <p:txBody>
          <a:body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C3D81985-DF3B-2773-92E8-87AC05FBFDB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2C80FC6-A4D6-D7DD-CD5D-B1CD8FB8CD7D}"/>
              </a:ext>
            </a:extLst>
          </p:cNvPr>
          <p:cNvSpPr>
            <a:spLocks noGrp="1"/>
          </p:cNvSpPr>
          <p:nvPr>
            <p:ph type="sldNum" sz="quarter" idx="12"/>
          </p:nvPr>
        </p:nvSpPr>
        <p:spPr/>
        <p:txBody>
          <a:bodyPr/>
          <a:lstStyle/>
          <a:p>
            <a:fld id="{5A660FBC-2370-4D3F-AD3F-EA0D2CAA6C42}" type="slidenum">
              <a:rPr lang="es-MX" smtClean="0"/>
              <a:t>‹Nº›</a:t>
            </a:fld>
            <a:endParaRPr lang="es-MX"/>
          </a:p>
        </p:txBody>
      </p:sp>
    </p:spTree>
    <p:extLst>
      <p:ext uri="{BB962C8B-B14F-4D97-AF65-F5344CB8AC3E}">
        <p14:creationId xmlns:p14="http://schemas.microsoft.com/office/powerpoint/2010/main" val="4011086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0B7C514-8A38-46E3-A431-DB2DA2AB9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8111041-43E5-944F-3455-5452FD19D2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A6893A3-8D31-CC23-3CC2-E7F20D2C0B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AD1BF3-B1FD-4E43-B1B2-FF14753DCE5B}" type="datetimeFigureOut">
              <a:rPr lang="es-MX" smtClean="0"/>
              <a:t>31/08/2026</a:t>
            </a:fld>
            <a:endParaRPr lang="es-MX"/>
          </a:p>
        </p:txBody>
      </p:sp>
      <p:sp>
        <p:nvSpPr>
          <p:cNvPr id="5" name="Marcador de pie de página 4">
            <a:extLst>
              <a:ext uri="{FF2B5EF4-FFF2-40B4-BE49-F238E27FC236}">
                <a16:creationId xmlns:a16="http://schemas.microsoft.com/office/drawing/2014/main" id="{BF83E2E4-EA53-022B-5728-8046917DC3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A499805-3C70-5E00-979C-836D0ACE95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60FBC-2370-4D3F-AD3F-EA0D2CAA6C42}" type="slidenum">
              <a:rPr lang="es-MX" smtClean="0"/>
              <a:t>‹Nº›</a:t>
            </a:fld>
            <a:endParaRPr lang="es-MX"/>
          </a:p>
        </p:txBody>
      </p:sp>
    </p:spTree>
    <p:extLst>
      <p:ext uri="{BB962C8B-B14F-4D97-AF65-F5344CB8AC3E}">
        <p14:creationId xmlns:p14="http://schemas.microsoft.com/office/powerpoint/2010/main" val="1218917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5DD9A4BC-47F5-5BFF-5A7C-7C40E1CA0000}"/>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Lenguajes</a:t>
            </a:r>
            <a:r>
              <a:rPr lang="en-US" sz="1600" dirty="0">
                <a:solidFill>
                  <a:srgbClr val="000000"/>
                </a:solidFill>
                <a:latin typeface="Century Gothic" panose="020B0502020202020204" pitchFamily="34" charset="0"/>
                <a:ea typeface="Glacial Indifference"/>
                <a:cs typeface="Glacial Indifference"/>
                <a:sym typeface="Glacial Indifference"/>
              </a:rPr>
              <a:t> y </a:t>
            </a:r>
            <a:r>
              <a:rPr lang="en-US" sz="1600" dirty="0" err="1">
                <a:solidFill>
                  <a:srgbClr val="000000"/>
                </a:solidFill>
                <a:latin typeface="Century Gothic" panose="020B0502020202020204" pitchFamily="34" charset="0"/>
                <a:ea typeface="Glacial Indifference"/>
                <a:cs typeface="Glacial Indifference"/>
                <a:sym typeface="Glacial Indifference"/>
              </a:rPr>
              <a:t>Automatas</a:t>
            </a:r>
            <a:r>
              <a:rPr lang="en-US" sz="1600" dirty="0">
                <a:solidFill>
                  <a:srgbClr val="000000"/>
                </a:solidFill>
                <a:latin typeface="Century Gothic" panose="020B0502020202020204" pitchFamily="34" charset="0"/>
                <a:ea typeface="Glacial Indifference"/>
                <a:cs typeface="Glacial Indifference"/>
                <a:sym typeface="Glacial Indifference"/>
              </a:rPr>
              <a:t> II</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Septimo</a:t>
            </a:r>
            <a:r>
              <a:rPr lang="en-US" sz="1600" dirty="0">
                <a:solidFill>
                  <a:srgbClr val="000000"/>
                </a:solidFill>
                <a:latin typeface="Century Gothic" panose="020B0502020202020204" pitchFamily="34" charset="0"/>
                <a:ea typeface="Glacial Indifference"/>
                <a:cs typeface="Glacial Indifference"/>
                <a:sym typeface="Glacial Indifference"/>
              </a:rPr>
              <a:t> semestre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23 de </a:t>
            </a:r>
            <a:r>
              <a:rPr lang="en-US" sz="1600" dirty="0" err="1">
                <a:solidFill>
                  <a:srgbClr val="000000"/>
                </a:solidFill>
                <a:latin typeface="Century Gothic" panose="020B0502020202020204" pitchFamily="34" charset="0"/>
                <a:ea typeface="Glacial Indifference"/>
                <a:cs typeface="Glacial Indifference"/>
                <a:sym typeface="Glacial Indifference"/>
              </a:rPr>
              <a:t>agosto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FC30975D-CF0E-F2C6-AEB9-964B5DB8B37C}"/>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C7B7FB9E-ED21-0DB0-BF3E-6E696D3B1B94}"/>
              </a:ext>
            </a:extLst>
          </p:cNvPr>
          <p:cNvGrpSpPr/>
          <p:nvPr/>
        </p:nvGrpSpPr>
        <p:grpSpPr>
          <a:xfrm>
            <a:off x="1118708" y="31119"/>
            <a:ext cx="2709599" cy="1198176"/>
            <a:chOff x="0" y="0"/>
            <a:chExt cx="3073400" cy="1308100"/>
          </a:xfrm>
        </p:grpSpPr>
        <p:sp>
          <p:nvSpPr>
            <p:cNvPr id="7" name="Freeform 3">
              <a:extLst>
                <a:ext uri="{FF2B5EF4-FFF2-40B4-BE49-F238E27FC236}">
                  <a16:creationId xmlns:a16="http://schemas.microsoft.com/office/drawing/2014/main" id="{A14D9471-61C5-E6C9-A64F-E64EC245540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CAA575A8-DE06-7ED9-73C8-A0CC03224A0B}"/>
              </a:ext>
            </a:extLst>
          </p:cNvPr>
          <p:cNvGrpSpPr/>
          <p:nvPr/>
        </p:nvGrpSpPr>
        <p:grpSpPr>
          <a:xfrm>
            <a:off x="9459465" y="106714"/>
            <a:ext cx="1872270" cy="1245240"/>
            <a:chOff x="0" y="0"/>
            <a:chExt cx="1981200" cy="1625600"/>
          </a:xfrm>
        </p:grpSpPr>
        <p:sp>
          <p:nvSpPr>
            <p:cNvPr id="9" name="Freeform 5">
              <a:extLst>
                <a:ext uri="{FF2B5EF4-FFF2-40B4-BE49-F238E27FC236}">
                  <a16:creationId xmlns:a16="http://schemas.microsoft.com/office/drawing/2014/main" id="{1250037A-400E-2EB0-1A9A-EFCDBDDCFB9C}"/>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D02DD5F7-4DF4-B9A9-43DF-688E8896F35E}"/>
              </a:ext>
            </a:extLst>
          </p:cNvPr>
          <p:cNvGrpSpPr/>
          <p:nvPr/>
        </p:nvGrpSpPr>
        <p:grpSpPr>
          <a:xfrm>
            <a:off x="4609388" y="269788"/>
            <a:ext cx="3812814" cy="709234"/>
            <a:chOff x="0" y="0"/>
            <a:chExt cx="4343400" cy="901700"/>
          </a:xfrm>
        </p:grpSpPr>
        <p:sp>
          <p:nvSpPr>
            <p:cNvPr id="11" name="Freeform 7">
              <a:extLst>
                <a:ext uri="{FF2B5EF4-FFF2-40B4-BE49-F238E27FC236}">
                  <a16:creationId xmlns:a16="http://schemas.microsoft.com/office/drawing/2014/main" id="{D23A24AE-AE5A-6D87-FB02-53D44041F058}"/>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4107275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82A90-665C-A32D-992E-7B813A385408}"/>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477148A5-43FF-18FD-CB3D-4A9E39121F8F}"/>
              </a:ext>
            </a:extLst>
          </p:cNvPr>
          <p:cNvSpPr>
            <a:spLocks noGrp="1"/>
          </p:cNvSpPr>
          <p:nvPr>
            <p:ph idx="1"/>
          </p:nvPr>
        </p:nvSpPr>
        <p:spPr/>
        <p:txBody>
          <a:bodyPr/>
          <a:lstStyle/>
          <a:p>
            <a:pPr marL="0" indent="0" algn="just">
              <a:buNone/>
            </a:pPr>
            <a:r>
              <a:rPr lang="es-MX" dirty="0"/>
              <a:t>El presente banco de ejercicios tiene como finalidad comprobar el funcionamiento del proyecto de análisis semántico mediante diferentes casos de prueba. A través de estos ejercicios se utilizan declaraciones de variables, operaciones aritméticas, expresiones con paréntesis, diferentes tipos de datos y situaciones que generan errores semánticos.</a:t>
            </a:r>
          </a:p>
        </p:txBody>
      </p:sp>
    </p:spTree>
    <p:extLst>
      <p:ext uri="{BB962C8B-B14F-4D97-AF65-F5344CB8AC3E}">
        <p14:creationId xmlns:p14="http://schemas.microsoft.com/office/powerpoint/2010/main" val="25933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181C1-D064-A31F-00BB-6BB0ED7EDDC7}"/>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B5D0056A-41EE-ECA7-7A86-85752F36C1E7}"/>
              </a:ext>
            </a:extLst>
          </p:cNvPr>
          <p:cNvSpPr>
            <a:spLocks noGrp="1"/>
          </p:cNvSpPr>
          <p:nvPr>
            <p:ph idx="1"/>
          </p:nvPr>
        </p:nvSpPr>
        <p:spPr/>
        <p:txBody>
          <a:bodyPr/>
          <a:lstStyle/>
          <a:p>
            <a:pPr marL="0" indent="0" algn="just">
              <a:buNone/>
            </a:pPr>
            <a:r>
              <a:rPr lang="es-MX" dirty="0"/>
              <a:t>La realización de este banco de ejercicios es importante porque permite comprobar de manera práctica el funcionamiento del proyecto de análisis semántico. Mediante diferentes casos de prueba se pueden evaluar las principales funciones del sistema, como la declaración de variables, la comprobación de tipos, el análisis de expresiones, la detección de errores y la generación del árbol de expresiones.</a:t>
            </a:r>
          </a:p>
        </p:txBody>
      </p:sp>
    </p:spTree>
    <p:extLst>
      <p:ext uri="{BB962C8B-B14F-4D97-AF65-F5344CB8AC3E}">
        <p14:creationId xmlns:p14="http://schemas.microsoft.com/office/powerpoint/2010/main" val="378000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E284-7813-577C-5FDA-95886F1E345A}"/>
              </a:ext>
            </a:extLst>
          </p:cNvPr>
          <p:cNvSpPr>
            <a:spLocks noGrp="1"/>
          </p:cNvSpPr>
          <p:nvPr>
            <p:ph type="title"/>
          </p:nvPr>
        </p:nvSpPr>
        <p:spPr/>
        <p:txBody>
          <a:bodyPr/>
          <a:lstStyle/>
          <a:p>
            <a:r>
              <a:rPr lang="es-MX" dirty="0"/>
              <a:t>Ejercicio 1. Operaciones </a:t>
            </a:r>
            <a:r>
              <a:rPr lang="es-MX" dirty="0" err="1"/>
              <a:t>Basicas</a:t>
            </a:r>
            <a:endParaRPr lang="es-MX" dirty="0"/>
          </a:p>
        </p:txBody>
      </p:sp>
      <p:pic>
        <p:nvPicPr>
          <p:cNvPr id="5" name="Marcador de contenido 4">
            <a:extLst>
              <a:ext uri="{FF2B5EF4-FFF2-40B4-BE49-F238E27FC236}">
                <a16:creationId xmlns:a16="http://schemas.microsoft.com/office/drawing/2014/main" id="{3F589BA2-5C81-1E64-2266-8EDF1C615F6C}"/>
              </a:ext>
            </a:extLst>
          </p:cNvPr>
          <p:cNvPicPr>
            <a:picLocks noGrp="1" noChangeAspect="1"/>
          </p:cNvPicPr>
          <p:nvPr>
            <p:ph idx="1"/>
          </p:nvPr>
        </p:nvPicPr>
        <p:blipFill>
          <a:blip r:embed="rId2"/>
          <a:stretch>
            <a:fillRect/>
          </a:stretch>
        </p:blipFill>
        <p:spPr>
          <a:xfrm>
            <a:off x="399523" y="1393615"/>
            <a:ext cx="2039980" cy="2655991"/>
          </a:xfrm>
        </p:spPr>
      </p:pic>
      <p:pic>
        <p:nvPicPr>
          <p:cNvPr id="7" name="Imagen 6">
            <a:extLst>
              <a:ext uri="{FF2B5EF4-FFF2-40B4-BE49-F238E27FC236}">
                <a16:creationId xmlns:a16="http://schemas.microsoft.com/office/drawing/2014/main" id="{E49BC4D7-2674-5C45-FC97-A49656E43EC2}"/>
              </a:ext>
            </a:extLst>
          </p:cNvPr>
          <p:cNvPicPr>
            <a:picLocks noChangeAspect="1"/>
          </p:cNvPicPr>
          <p:nvPr/>
        </p:nvPicPr>
        <p:blipFill>
          <a:blip r:embed="rId3"/>
          <a:stretch>
            <a:fillRect/>
          </a:stretch>
        </p:blipFill>
        <p:spPr>
          <a:xfrm>
            <a:off x="3017272" y="1393615"/>
            <a:ext cx="2249542" cy="2621405"/>
          </a:xfrm>
          <a:prstGeom prst="rect">
            <a:avLst/>
          </a:prstGeom>
        </p:spPr>
      </p:pic>
      <p:pic>
        <p:nvPicPr>
          <p:cNvPr id="9" name="Imagen 8">
            <a:extLst>
              <a:ext uri="{FF2B5EF4-FFF2-40B4-BE49-F238E27FC236}">
                <a16:creationId xmlns:a16="http://schemas.microsoft.com/office/drawing/2014/main" id="{852A643E-A195-AD1F-5920-1C3191D1803C}"/>
              </a:ext>
            </a:extLst>
          </p:cNvPr>
          <p:cNvPicPr>
            <a:picLocks noChangeAspect="1"/>
          </p:cNvPicPr>
          <p:nvPr/>
        </p:nvPicPr>
        <p:blipFill>
          <a:blip r:embed="rId4"/>
          <a:stretch>
            <a:fillRect/>
          </a:stretch>
        </p:blipFill>
        <p:spPr>
          <a:xfrm>
            <a:off x="5844583" y="1393615"/>
            <a:ext cx="2416481" cy="2655991"/>
          </a:xfrm>
          <a:prstGeom prst="rect">
            <a:avLst/>
          </a:prstGeom>
        </p:spPr>
      </p:pic>
      <p:pic>
        <p:nvPicPr>
          <p:cNvPr id="11" name="Imagen 10">
            <a:extLst>
              <a:ext uri="{FF2B5EF4-FFF2-40B4-BE49-F238E27FC236}">
                <a16:creationId xmlns:a16="http://schemas.microsoft.com/office/drawing/2014/main" id="{8148DAE4-35AC-0320-A887-D12AA58F3C77}"/>
              </a:ext>
            </a:extLst>
          </p:cNvPr>
          <p:cNvPicPr>
            <a:picLocks noChangeAspect="1"/>
          </p:cNvPicPr>
          <p:nvPr/>
        </p:nvPicPr>
        <p:blipFill>
          <a:blip r:embed="rId5"/>
          <a:stretch>
            <a:fillRect/>
          </a:stretch>
        </p:blipFill>
        <p:spPr>
          <a:xfrm>
            <a:off x="8680720" y="1338587"/>
            <a:ext cx="2644298" cy="2666212"/>
          </a:xfrm>
          <a:prstGeom prst="rect">
            <a:avLst/>
          </a:prstGeom>
        </p:spPr>
      </p:pic>
      <p:sp>
        <p:nvSpPr>
          <p:cNvPr id="14" name="Rectangle 1">
            <a:extLst>
              <a:ext uri="{FF2B5EF4-FFF2-40B4-BE49-F238E27FC236}">
                <a16:creationId xmlns:a16="http://schemas.microsoft.com/office/drawing/2014/main" id="{250420C9-6225-BA13-C702-1E5D659D4A6D}"/>
              </a:ext>
            </a:extLst>
          </p:cNvPr>
          <p:cNvSpPr>
            <a:spLocks noChangeArrowheads="1"/>
          </p:cNvSpPr>
          <p:nvPr/>
        </p:nvSpPr>
        <p:spPr bwMode="auto">
          <a:xfrm>
            <a:off x="1983627" y="4881131"/>
            <a:ext cx="892750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Se declaran varias variables de tipo int y se realizan operaciones de suma, resta, multiplicación y división. El objetivo es comprobar que el analizador reconoce correctamente los tipos de datos y respeta la jerarquía de operaciones. </a:t>
            </a:r>
          </a:p>
        </p:txBody>
      </p:sp>
    </p:spTree>
    <p:extLst>
      <p:ext uri="{BB962C8B-B14F-4D97-AF65-F5344CB8AC3E}">
        <p14:creationId xmlns:p14="http://schemas.microsoft.com/office/powerpoint/2010/main" val="217474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CAEBEC-D773-FCF6-07E3-4B7ABD796506}"/>
              </a:ext>
            </a:extLst>
          </p:cNvPr>
          <p:cNvSpPr>
            <a:spLocks noGrp="1"/>
          </p:cNvSpPr>
          <p:nvPr>
            <p:ph type="title"/>
          </p:nvPr>
        </p:nvSpPr>
        <p:spPr/>
        <p:txBody>
          <a:bodyPr/>
          <a:lstStyle/>
          <a:p>
            <a:r>
              <a:rPr lang="es-MX" dirty="0"/>
              <a:t>Ejercicio 2. Precedencia y paréntesis</a:t>
            </a:r>
          </a:p>
        </p:txBody>
      </p:sp>
      <p:pic>
        <p:nvPicPr>
          <p:cNvPr id="5" name="Marcador de contenido 4">
            <a:extLst>
              <a:ext uri="{FF2B5EF4-FFF2-40B4-BE49-F238E27FC236}">
                <a16:creationId xmlns:a16="http://schemas.microsoft.com/office/drawing/2014/main" id="{8668A602-5DF0-F4A0-126D-4BF3BC47C46D}"/>
              </a:ext>
            </a:extLst>
          </p:cNvPr>
          <p:cNvPicPr>
            <a:picLocks noGrp="1" noChangeAspect="1"/>
          </p:cNvPicPr>
          <p:nvPr>
            <p:ph idx="1"/>
          </p:nvPr>
        </p:nvPicPr>
        <p:blipFill>
          <a:blip r:embed="rId2"/>
          <a:stretch>
            <a:fillRect/>
          </a:stretch>
        </p:blipFill>
        <p:spPr>
          <a:xfrm>
            <a:off x="253025" y="1771565"/>
            <a:ext cx="2629035" cy="3314870"/>
          </a:xfrm>
        </p:spPr>
      </p:pic>
      <p:pic>
        <p:nvPicPr>
          <p:cNvPr id="7" name="Imagen 6">
            <a:extLst>
              <a:ext uri="{FF2B5EF4-FFF2-40B4-BE49-F238E27FC236}">
                <a16:creationId xmlns:a16="http://schemas.microsoft.com/office/drawing/2014/main" id="{B605D9F8-F260-57AD-1DC1-BB81C7AF1C97}"/>
              </a:ext>
            </a:extLst>
          </p:cNvPr>
          <p:cNvPicPr>
            <a:picLocks noChangeAspect="1"/>
          </p:cNvPicPr>
          <p:nvPr/>
        </p:nvPicPr>
        <p:blipFill>
          <a:blip r:embed="rId3"/>
          <a:stretch>
            <a:fillRect/>
          </a:stretch>
        </p:blipFill>
        <p:spPr>
          <a:xfrm>
            <a:off x="3144497" y="1872144"/>
            <a:ext cx="3303239" cy="3314870"/>
          </a:xfrm>
          <a:prstGeom prst="rect">
            <a:avLst/>
          </a:prstGeom>
        </p:spPr>
      </p:pic>
      <p:sp>
        <p:nvSpPr>
          <p:cNvPr id="8" name="Rectangle 1">
            <a:extLst>
              <a:ext uri="{FF2B5EF4-FFF2-40B4-BE49-F238E27FC236}">
                <a16:creationId xmlns:a16="http://schemas.microsoft.com/office/drawing/2014/main" id="{FABF0831-618A-48BF-E263-40A01AB77CDA}"/>
              </a:ext>
            </a:extLst>
          </p:cNvPr>
          <p:cNvSpPr>
            <a:spLocks noChangeArrowheads="1"/>
          </p:cNvSpPr>
          <p:nvPr/>
        </p:nvSpPr>
        <p:spPr bwMode="auto">
          <a:xfrm>
            <a:off x="6710174" y="2088235"/>
            <a:ext cx="522880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Se utilizan expresiones con diferentes niveles de paréntesis, por ejemplo (a + b) * c. Este ejercicio permite comprobar que el proyecto construye correctamente el árbol de expresiones y la notación postfija, respetando el orden indicado por los paréntesis. </a:t>
            </a:r>
          </a:p>
        </p:txBody>
      </p:sp>
    </p:spTree>
    <p:extLst>
      <p:ext uri="{BB962C8B-B14F-4D97-AF65-F5344CB8AC3E}">
        <p14:creationId xmlns:p14="http://schemas.microsoft.com/office/powerpoint/2010/main" val="1819121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45A908A8-88B7-75F4-C14C-7499794F3A9A}"/>
              </a:ext>
            </a:extLst>
          </p:cNvPr>
          <p:cNvPicPr>
            <a:picLocks noGrp="1" noChangeAspect="1"/>
          </p:cNvPicPr>
          <p:nvPr>
            <p:ph idx="1"/>
          </p:nvPr>
        </p:nvPicPr>
        <p:blipFill>
          <a:blip r:embed="rId2"/>
          <a:stretch>
            <a:fillRect/>
          </a:stretch>
        </p:blipFill>
        <p:spPr>
          <a:xfrm>
            <a:off x="415841" y="1858011"/>
            <a:ext cx="3358463" cy="3141977"/>
          </a:xfrm>
        </p:spPr>
      </p:pic>
      <p:sp>
        <p:nvSpPr>
          <p:cNvPr id="4" name="Rectangle 1">
            <a:extLst>
              <a:ext uri="{FF2B5EF4-FFF2-40B4-BE49-F238E27FC236}">
                <a16:creationId xmlns:a16="http://schemas.microsoft.com/office/drawing/2014/main" id="{FC98588C-4EDF-EE2C-F813-7BDC04175788}"/>
              </a:ext>
            </a:extLst>
          </p:cNvPr>
          <p:cNvSpPr>
            <a:spLocks noGrp="1" noChangeArrowheads="1"/>
          </p:cNvSpPr>
          <p:nvPr>
            <p:ph type="title"/>
          </p:nvPr>
        </p:nvSpPr>
        <p:spPr bwMode="auto">
          <a:xfrm>
            <a:off x="838200" y="643186"/>
            <a:ext cx="666317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Ejercicio 3. Variables </a:t>
            </a:r>
            <a:r>
              <a:rPr lang="es-MX" altLang="es-MX" dirty="0" err="1"/>
              <a:t>double</a:t>
            </a:r>
            <a:r>
              <a:rPr lang="es-MX" altLang="es-MX" dirty="0"/>
              <a:t> </a:t>
            </a:r>
          </a:p>
        </p:txBody>
      </p:sp>
      <p:pic>
        <p:nvPicPr>
          <p:cNvPr id="10" name="Imagen 9">
            <a:extLst>
              <a:ext uri="{FF2B5EF4-FFF2-40B4-BE49-F238E27FC236}">
                <a16:creationId xmlns:a16="http://schemas.microsoft.com/office/drawing/2014/main" id="{54FBAF4C-48CF-6DBC-4361-42200C0436D5}"/>
              </a:ext>
            </a:extLst>
          </p:cNvPr>
          <p:cNvPicPr>
            <a:picLocks noChangeAspect="1"/>
          </p:cNvPicPr>
          <p:nvPr/>
        </p:nvPicPr>
        <p:blipFill>
          <a:blip r:embed="rId3"/>
          <a:stretch>
            <a:fillRect/>
          </a:stretch>
        </p:blipFill>
        <p:spPr>
          <a:xfrm>
            <a:off x="4169785" y="1727095"/>
            <a:ext cx="3016405" cy="4064209"/>
          </a:xfrm>
          <a:prstGeom prst="rect">
            <a:avLst/>
          </a:prstGeom>
        </p:spPr>
      </p:pic>
      <p:sp>
        <p:nvSpPr>
          <p:cNvPr id="11" name="Rectangle 2">
            <a:extLst>
              <a:ext uri="{FF2B5EF4-FFF2-40B4-BE49-F238E27FC236}">
                <a16:creationId xmlns:a16="http://schemas.microsoft.com/office/drawing/2014/main" id="{85833218-01D2-7461-D596-45F631132237}"/>
              </a:ext>
            </a:extLst>
          </p:cNvPr>
          <p:cNvSpPr>
            <a:spLocks noChangeArrowheads="1"/>
          </p:cNvSpPr>
          <p:nvPr/>
        </p:nvSpPr>
        <p:spPr bwMode="auto">
          <a:xfrm>
            <a:off x="7341766" y="2575604"/>
            <a:ext cx="434223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Se trabajan variables de tipo double combinadas con valores enteros. El objetivo es verificar la compatibilidad de tipos, especialmente que un valor int pueda utilizarse en una expresión cuyo resultado sea double.</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a:p>
        </p:txBody>
      </p:sp>
    </p:spTree>
    <p:extLst>
      <p:ext uri="{BB962C8B-B14F-4D97-AF65-F5344CB8AC3E}">
        <p14:creationId xmlns:p14="http://schemas.microsoft.com/office/powerpoint/2010/main" val="1613281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B9F9D7-70E7-A633-FADF-8B1375B5201B}"/>
              </a:ext>
            </a:extLst>
          </p:cNvPr>
          <p:cNvSpPr>
            <a:spLocks noGrp="1"/>
          </p:cNvSpPr>
          <p:nvPr>
            <p:ph type="title"/>
          </p:nvPr>
        </p:nvSpPr>
        <p:spPr/>
        <p:txBody>
          <a:bodyPr/>
          <a:lstStyle/>
          <a:p>
            <a:r>
              <a:rPr lang="es-MX" dirty="0"/>
              <a:t>Ejercicio 4. </a:t>
            </a:r>
            <a:r>
              <a:rPr lang="es-MX" dirty="0" err="1"/>
              <a:t>Strings</a:t>
            </a:r>
            <a:r>
              <a:rPr lang="es-MX" dirty="0"/>
              <a:t> y booleanos</a:t>
            </a:r>
          </a:p>
        </p:txBody>
      </p:sp>
      <p:pic>
        <p:nvPicPr>
          <p:cNvPr id="5" name="Marcador de contenido 4">
            <a:extLst>
              <a:ext uri="{FF2B5EF4-FFF2-40B4-BE49-F238E27FC236}">
                <a16:creationId xmlns:a16="http://schemas.microsoft.com/office/drawing/2014/main" id="{48FB3970-F368-085D-91EB-8120561568E0}"/>
              </a:ext>
            </a:extLst>
          </p:cNvPr>
          <p:cNvPicPr>
            <a:picLocks noGrp="1" noChangeAspect="1"/>
          </p:cNvPicPr>
          <p:nvPr>
            <p:ph idx="1"/>
          </p:nvPr>
        </p:nvPicPr>
        <p:blipFill>
          <a:blip r:embed="rId2"/>
          <a:stretch>
            <a:fillRect/>
          </a:stretch>
        </p:blipFill>
        <p:spPr>
          <a:xfrm>
            <a:off x="312428" y="1424899"/>
            <a:ext cx="3206915" cy="4216617"/>
          </a:xfrm>
        </p:spPr>
      </p:pic>
      <p:pic>
        <p:nvPicPr>
          <p:cNvPr id="7" name="Imagen 6">
            <a:extLst>
              <a:ext uri="{FF2B5EF4-FFF2-40B4-BE49-F238E27FC236}">
                <a16:creationId xmlns:a16="http://schemas.microsoft.com/office/drawing/2014/main" id="{2C966426-4685-6965-48AB-FC1C4A3B68B7}"/>
              </a:ext>
            </a:extLst>
          </p:cNvPr>
          <p:cNvPicPr>
            <a:picLocks noChangeAspect="1"/>
          </p:cNvPicPr>
          <p:nvPr/>
        </p:nvPicPr>
        <p:blipFill>
          <a:blip r:embed="rId3"/>
          <a:stretch>
            <a:fillRect/>
          </a:stretch>
        </p:blipFill>
        <p:spPr>
          <a:xfrm>
            <a:off x="3519343" y="1424899"/>
            <a:ext cx="2991004" cy="4330923"/>
          </a:xfrm>
          <a:prstGeom prst="rect">
            <a:avLst/>
          </a:prstGeom>
        </p:spPr>
      </p:pic>
      <p:sp>
        <p:nvSpPr>
          <p:cNvPr id="9" name="CuadroTexto 8">
            <a:extLst>
              <a:ext uri="{FF2B5EF4-FFF2-40B4-BE49-F238E27FC236}">
                <a16:creationId xmlns:a16="http://schemas.microsoft.com/office/drawing/2014/main" id="{6DBDD2A9-A253-B2C7-7F5F-F30585B0AA51}"/>
              </a:ext>
            </a:extLst>
          </p:cNvPr>
          <p:cNvSpPr txBox="1"/>
          <p:nvPr/>
        </p:nvSpPr>
        <p:spPr>
          <a:xfrm>
            <a:off x="6669262" y="2245926"/>
            <a:ext cx="4913138" cy="1741873"/>
          </a:xfrm>
          <a:prstGeom prst="rect">
            <a:avLst/>
          </a:prstGeom>
          <a:noFill/>
        </p:spPr>
        <p:txBody>
          <a:bodyPr wrap="square">
            <a:spAutoFit/>
          </a:bodyPr>
          <a:lstStyle/>
          <a:p>
            <a:r>
              <a:rPr lang="es-MX" dirty="0"/>
              <a:t>Se introducen errores como utilizar una variable que no ha sido declarada o intentar asignar un tipo de dato incompatible. Este ejercicio permite comprobar que el analizador detecta y muestra correctamente los </a:t>
            </a:r>
            <a:r>
              <a:rPr lang="es-MX" b="1" dirty="0"/>
              <a:t>errores semánticos</a:t>
            </a:r>
            <a:r>
              <a:rPr lang="es-MX" dirty="0"/>
              <a:t>.</a:t>
            </a:r>
          </a:p>
        </p:txBody>
      </p:sp>
    </p:spTree>
    <p:extLst>
      <p:ext uri="{BB962C8B-B14F-4D97-AF65-F5344CB8AC3E}">
        <p14:creationId xmlns:p14="http://schemas.microsoft.com/office/powerpoint/2010/main" val="150249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F4294C-147E-D3E7-A07A-DA797039E187}"/>
              </a:ext>
            </a:extLst>
          </p:cNvPr>
          <p:cNvSpPr>
            <a:spLocks noGrp="1"/>
          </p:cNvSpPr>
          <p:nvPr>
            <p:ph type="title"/>
          </p:nvPr>
        </p:nvSpPr>
        <p:spPr/>
        <p:txBody>
          <a:bodyPr/>
          <a:lstStyle/>
          <a:p>
            <a:r>
              <a:rPr lang="es-MX" dirty="0"/>
              <a:t>Ejercicio 5. Prueba completa </a:t>
            </a:r>
          </a:p>
        </p:txBody>
      </p:sp>
      <p:pic>
        <p:nvPicPr>
          <p:cNvPr id="5" name="Marcador de contenido 4">
            <a:extLst>
              <a:ext uri="{FF2B5EF4-FFF2-40B4-BE49-F238E27FC236}">
                <a16:creationId xmlns:a16="http://schemas.microsoft.com/office/drawing/2014/main" id="{49C7E8FD-255B-0E28-AA57-967626BCDF63}"/>
              </a:ext>
            </a:extLst>
          </p:cNvPr>
          <p:cNvPicPr>
            <a:picLocks noGrp="1" noChangeAspect="1"/>
          </p:cNvPicPr>
          <p:nvPr>
            <p:ph idx="1"/>
          </p:nvPr>
        </p:nvPicPr>
        <p:blipFill>
          <a:blip r:embed="rId2"/>
          <a:stretch>
            <a:fillRect/>
          </a:stretch>
        </p:blipFill>
        <p:spPr>
          <a:xfrm>
            <a:off x="2685875" y="1514376"/>
            <a:ext cx="3410125" cy="3829247"/>
          </a:xfrm>
        </p:spPr>
      </p:pic>
      <p:pic>
        <p:nvPicPr>
          <p:cNvPr id="7" name="Imagen 6">
            <a:extLst>
              <a:ext uri="{FF2B5EF4-FFF2-40B4-BE49-F238E27FC236}">
                <a16:creationId xmlns:a16="http://schemas.microsoft.com/office/drawing/2014/main" id="{4B7130B4-1612-482B-2DAB-1B1A25BA3051}"/>
              </a:ext>
            </a:extLst>
          </p:cNvPr>
          <p:cNvPicPr>
            <a:picLocks noChangeAspect="1"/>
          </p:cNvPicPr>
          <p:nvPr/>
        </p:nvPicPr>
        <p:blipFill>
          <a:blip r:embed="rId3"/>
          <a:stretch>
            <a:fillRect/>
          </a:stretch>
        </p:blipFill>
        <p:spPr>
          <a:xfrm>
            <a:off x="224605" y="1461120"/>
            <a:ext cx="2431509" cy="4687053"/>
          </a:xfrm>
          <a:prstGeom prst="rect">
            <a:avLst/>
          </a:prstGeom>
        </p:spPr>
      </p:pic>
      <p:sp>
        <p:nvSpPr>
          <p:cNvPr id="9" name="CuadroTexto 8">
            <a:extLst>
              <a:ext uri="{FF2B5EF4-FFF2-40B4-BE49-F238E27FC236}">
                <a16:creationId xmlns:a16="http://schemas.microsoft.com/office/drawing/2014/main" id="{EBD606D0-AC2D-36C4-9DE9-7330561B41B8}"/>
              </a:ext>
            </a:extLst>
          </p:cNvPr>
          <p:cNvSpPr txBox="1"/>
          <p:nvPr/>
        </p:nvSpPr>
        <p:spPr>
          <a:xfrm>
            <a:off x="6125761" y="2690335"/>
            <a:ext cx="6096000" cy="1477328"/>
          </a:xfrm>
          <a:prstGeom prst="rect">
            <a:avLst/>
          </a:prstGeom>
          <a:noFill/>
        </p:spPr>
        <p:txBody>
          <a:bodyPr wrap="square">
            <a:spAutoFit/>
          </a:bodyPr>
          <a:lstStyle/>
          <a:p>
            <a:r>
              <a:rPr lang="es-MX" dirty="0"/>
              <a:t>Se combinan varias variables y operaciones dentro de una expresión más grande. El objetivo es evaluar de manera conjunta el </a:t>
            </a:r>
            <a:r>
              <a:rPr lang="es-MX" b="1" dirty="0"/>
              <a:t>análisis semántico, comprobación de tipos, árbol de expresiones, pila semántica y traducción a notación postfija</a:t>
            </a:r>
            <a:r>
              <a:rPr lang="es-MX" dirty="0"/>
              <a:t>.</a:t>
            </a:r>
          </a:p>
        </p:txBody>
      </p:sp>
    </p:spTree>
    <p:extLst>
      <p:ext uri="{BB962C8B-B14F-4D97-AF65-F5344CB8AC3E}">
        <p14:creationId xmlns:p14="http://schemas.microsoft.com/office/powerpoint/2010/main" val="1691327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3720B-329F-67CD-73EC-7B760823929D}"/>
              </a:ext>
            </a:extLst>
          </p:cNvPr>
          <p:cNvSpPr>
            <a:spLocks noGrp="1"/>
          </p:cNvSpPr>
          <p:nvPr>
            <p:ph type="title"/>
          </p:nvPr>
        </p:nvSpPr>
        <p:spPr/>
        <p:txBody>
          <a:bodyPr/>
          <a:lstStyle/>
          <a:p>
            <a:r>
              <a:rPr lang="es-MX" dirty="0"/>
              <a:t>Prueba de errores</a:t>
            </a:r>
          </a:p>
        </p:txBody>
      </p:sp>
      <p:pic>
        <p:nvPicPr>
          <p:cNvPr id="5" name="Marcador de contenido 4">
            <a:extLst>
              <a:ext uri="{FF2B5EF4-FFF2-40B4-BE49-F238E27FC236}">
                <a16:creationId xmlns:a16="http://schemas.microsoft.com/office/drawing/2014/main" id="{884C3602-FCA7-F7BA-EDAB-B60686C881B0}"/>
              </a:ext>
            </a:extLst>
          </p:cNvPr>
          <p:cNvPicPr>
            <a:picLocks noGrp="1" noChangeAspect="1"/>
          </p:cNvPicPr>
          <p:nvPr>
            <p:ph idx="1"/>
          </p:nvPr>
        </p:nvPicPr>
        <p:blipFill>
          <a:blip r:embed="rId2"/>
          <a:stretch>
            <a:fillRect/>
          </a:stretch>
        </p:blipFill>
        <p:spPr>
          <a:xfrm>
            <a:off x="124666" y="1600910"/>
            <a:ext cx="2559182" cy="3276768"/>
          </a:xfrm>
        </p:spPr>
      </p:pic>
      <p:pic>
        <p:nvPicPr>
          <p:cNvPr id="7" name="Imagen 6">
            <a:extLst>
              <a:ext uri="{FF2B5EF4-FFF2-40B4-BE49-F238E27FC236}">
                <a16:creationId xmlns:a16="http://schemas.microsoft.com/office/drawing/2014/main" id="{02222102-B545-A823-19B5-5747A954B93F}"/>
              </a:ext>
            </a:extLst>
          </p:cNvPr>
          <p:cNvPicPr>
            <a:picLocks noChangeAspect="1"/>
          </p:cNvPicPr>
          <p:nvPr/>
        </p:nvPicPr>
        <p:blipFill>
          <a:blip r:embed="rId3"/>
          <a:stretch>
            <a:fillRect/>
          </a:stretch>
        </p:blipFill>
        <p:spPr>
          <a:xfrm>
            <a:off x="3183548" y="1600910"/>
            <a:ext cx="2711589" cy="3206915"/>
          </a:xfrm>
          <a:prstGeom prst="rect">
            <a:avLst/>
          </a:prstGeom>
        </p:spPr>
      </p:pic>
      <p:pic>
        <p:nvPicPr>
          <p:cNvPr id="9" name="Imagen 8">
            <a:extLst>
              <a:ext uri="{FF2B5EF4-FFF2-40B4-BE49-F238E27FC236}">
                <a16:creationId xmlns:a16="http://schemas.microsoft.com/office/drawing/2014/main" id="{C949CB3F-8FDD-1D9E-A2C5-4DFF342459EF}"/>
              </a:ext>
            </a:extLst>
          </p:cNvPr>
          <p:cNvPicPr>
            <a:picLocks noChangeAspect="1"/>
          </p:cNvPicPr>
          <p:nvPr/>
        </p:nvPicPr>
        <p:blipFill>
          <a:blip r:embed="rId4"/>
          <a:stretch>
            <a:fillRect/>
          </a:stretch>
        </p:blipFill>
        <p:spPr>
          <a:xfrm>
            <a:off x="6096000" y="1567055"/>
            <a:ext cx="3161823" cy="3225406"/>
          </a:xfrm>
          <a:prstGeom prst="rect">
            <a:avLst/>
          </a:prstGeom>
        </p:spPr>
      </p:pic>
      <p:pic>
        <p:nvPicPr>
          <p:cNvPr id="11" name="Imagen 10">
            <a:extLst>
              <a:ext uri="{FF2B5EF4-FFF2-40B4-BE49-F238E27FC236}">
                <a16:creationId xmlns:a16="http://schemas.microsoft.com/office/drawing/2014/main" id="{02EDCC4E-E462-2DD3-6941-F34E347FAF88}"/>
              </a:ext>
            </a:extLst>
          </p:cNvPr>
          <p:cNvPicPr>
            <a:picLocks noChangeAspect="1"/>
          </p:cNvPicPr>
          <p:nvPr/>
        </p:nvPicPr>
        <p:blipFill>
          <a:blip r:embed="rId5"/>
          <a:stretch>
            <a:fillRect/>
          </a:stretch>
        </p:blipFill>
        <p:spPr>
          <a:xfrm>
            <a:off x="9458686" y="1604877"/>
            <a:ext cx="2590933" cy="3149762"/>
          </a:xfrm>
          <a:prstGeom prst="rect">
            <a:avLst/>
          </a:prstGeom>
        </p:spPr>
      </p:pic>
    </p:spTree>
    <p:extLst>
      <p:ext uri="{BB962C8B-B14F-4D97-AF65-F5344CB8AC3E}">
        <p14:creationId xmlns:p14="http://schemas.microsoft.com/office/powerpoint/2010/main" val="3509862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A1B46-25C4-27E9-6E76-C5156F8C0634}"/>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35D37EE5-48DA-7DFA-63DB-10A50BC45A31}"/>
              </a:ext>
            </a:extLst>
          </p:cNvPr>
          <p:cNvSpPr>
            <a:spLocks noGrp="1"/>
          </p:cNvSpPr>
          <p:nvPr>
            <p:ph idx="1"/>
          </p:nvPr>
        </p:nvSpPr>
        <p:spPr/>
        <p:txBody>
          <a:bodyPr/>
          <a:lstStyle/>
          <a:p>
            <a:pPr marL="0" indent="0" algn="just">
              <a:buNone/>
            </a:pPr>
            <a:r>
              <a:rPr lang="es-MX" dirty="0"/>
              <a:t>Estos cinco ejercicios permiten comprobar las principales funciones del proyecto, desde el análisis de expresiones sencillas hasta la detección de errores y el procesamiento de expresiones más complejas. De esta manera, se verifica que el analizador semántico funciona correctamente en diferentes situaciones.</a:t>
            </a:r>
          </a:p>
        </p:txBody>
      </p:sp>
    </p:spTree>
    <p:extLst>
      <p:ext uri="{BB962C8B-B14F-4D97-AF65-F5344CB8AC3E}">
        <p14:creationId xmlns:p14="http://schemas.microsoft.com/office/powerpoint/2010/main" val="81468957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461</Words>
  <Application>Microsoft Office PowerPoint</Application>
  <PresentationFormat>Panorámica</PresentationFormat>
  <Paragraphs>39</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Century Gothic</vt:lpstr>
      <vt:lpstr>Tema de Office</vt:lpstr>
      <vt:lpstr>Presentación de PowerPoint</vt:lpstr>
      <vt:lpstr>Introducción </vt:lpstr>
      <vt:lpstr>Justificación</vt:lpstr>
      <vt:lpstr>Ejercicio 1. Operaciones Basicas</vt:lpstr>
      <vt:lpstr>Ejercicio 2. Precedencia y paréntesis</vt:lpstr>
      <vt:lpstr>Ejercicio 3. Variables double </vt:lpstr>
      <vt:lpstr>Ejercicio 4. Strings y booleanos</vt:lpstr>
      <vt:lpstr>Ejercicio 5. Prueba completa </vt:lpstr>
      <vt:lpstr>Prueba de errores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1</cp:revision>
  <dcterms:created xsi:type="dcterms:W3CDTF">2026-08-31T14:15:12Z</dcterms:created>
  <dcterms:modified xsi:type="dcterms:W3CDTF">2026-08-31T14:41:14Z</dcterms:modified>
</cp:coreProperties>
</file>