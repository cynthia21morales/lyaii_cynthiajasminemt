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99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4.2 · Analizador semántico en Java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essential/regex/intro.html" TargetMode="External"/><Relationship Id="rId7" Type="http://schemas.openxmlformats.org/officeDocument/2006/relationships/hyperlink" Target="https://www.cs.washington.edu/education/courses/cse401/04sp/slides/04-typechecking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it.kutztown.edu/~schwesin/spring20/csc526/lectures/Semantic_Analysis.pdf" TargetMode="External"/><Relationship Id="rId5" Type="http://schemas.openxmlformats.org/officeDocument/2006/relationships/hyperlink" Target="https://www.geeksforgeeks.org/?p=350245" TargetMode="External"/><Relationship Id="rId4" Type="http://schemas.openxmlformats.org/officeDocument/2006/relationships/hyperlink" Target="https://docs.oracle.com/javase/8/javafx/api/javafx/fxml/doc-files/introduction_to_fxml.htm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ynthia21Morales/LYAII_CynthiaJasmineMT/tree/main/LYAII-Tema-4/GeneracionDeCodigoObjeto1" TargetMode="External"/><Relationship Id="rId2" Type="http://schemas.openxmlformats.org/officeDocument/2006/relationships/hyperlink" Target="https://github.com/Cynthia21Morales/LYAII_CynthiaJasmineMT/blob/main/LYAII-Tema-4/Actividad%204.2%20Proyecto%20Analizador%20Sem%C3%A1ntico%20en%20Java_CynthiaMorales_LYAII_7ISCM.ppt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E52AFA3D-E68F-3D33-CB42-05E831F555DE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Lenguajes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Automatas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II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Analizador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04 de </a:t>
            </a:r>
            <a:r>
              <a:rPr lang="en-US" sz="1600" dirty="0" err="1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Octubre</a:t>
            </a: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91B1DBC-EC4C-A7E6-490A-58A2847417DC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CC88D1F-426F-9FE1-A647-09E181DCFB71}"/>
              </a:ext>
            </a:extLst>
          </p:cNvPr>
          <p:cNvGrpSpPr/>
          <p:nvPr/>
        </p:nvGrpSpPr>
        <p:grpSpPr>
          <a:xfrm>
            <a:off x="938603" y="31119"/>
            <a:ext cx="2709599" cy="1198176"/>
            <a:chOff x="0" y="0"/>
            <a:chExt cx="3073400" cy="130810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383E3843-CD80-2EA3-6308-69578A0F0DEC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F268ADA4-D3B6-6175-AC00-C8ED336B50BD}"/>
              </a:ext>
            </a:extLst>
          </p:cNvPr>
          <p:cNvGrpSpPr/>
          <p:nvPr/>
        </p:nvGrpSpPr>
        <p:grpSpPr>
          <a:xfrm>
            <a:off x="9557436" y="106714"/>
            <a:ext cx="1872270" cy="1245240"/>
            <a:chOff x="0" y="0"/>
            <a:chExt cx="1981200" cy="162560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11965CCB-B050-29BF-D955-3076EAE628BB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DFBF0A77-5ADF-C65A-5896-693E3E3D1EFC}"/>
              </a:ext>
            </a:extLst>
          </p:cNvPr>
          <p:cNvGrpSpPr/>
          <p:nvPr/>
        </p:nvGrpSpPr>
        <p:grpSpPr>
          <a:xfrm>
            <a:off x="4429283" y="269788"/>
            <a:ext cx="3812814" cy="709234"/>
            <a:chOff x="0" y="0"/>
            <a:chExt cx="4343400" cy="90170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C723394-6A28-CD09-DACB-10A634F85E30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7781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4.2 · REPORTE DE PRÁCTICA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Analizador Semántico en Java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 didáctico con interfaz JavaFX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· Campus Frontera Comalapa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Computacionales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II · Grupo 7ISCM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Alumna: Cynthia Morales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de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169164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expresión fuente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 * c - d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DE SÍMBOLOS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nombre  tipo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       entero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b       entero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c       entero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d       entero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válido: true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9494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compilador no solo revisa que el código esté bien escrito (análisis sintáctico): también debe comprobar que tenga sentido. A esa fase se le llama análisis semántico. Se apoya en una tabla de símbolos —el registro de cada variable con su tipo— y detecta errores que la gramática por sí sola no puede ver, como dividir entre cero o usar un identificador inválido.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práctica presenta un compilador didáctico hecho en Java con interfaz JavaFX. Recibe una expresión aritmética, por ejemplo a + b * c - d, y la lleva por cinco fases: análisis semántico, asignación de registros, ensamblador, lenguaje máquina y administración de memoria. El reporte explica, con capturas del proyecto, cómo está construido el analizador semántico y qué papel cumple dentro del conjunto.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0"/>
            <a:ext cx="3959352" cy="2240280"/>
          </a:xfrm>
          <a:prstGeom prst="roundRect">
            <a:avLst>
              <a:gd name="adj" fmla="val 4898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92440" y="160020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en el flujo del compilador, después de capturar la expresión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772400" y="3886200"/>
            <a:ext cx="3959352" cy="2240280"/>
          </a:xfrm>
          <a:prstGeom prst="roundRect">
            <a:avLst>
              <a:gd name="adj" fmla="val 4898"/>
            </a:avLst>
          </a:prstGeom>
          <a:solidFill>
            <a:srgbClr val="0E9AA7"/>
          </a:solidFill>
          <a:ln w="9525">
            <a:solidFill>
              <a:srgbClr val="0E9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411480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semánticas validadas: identificadores, división entre 0, operadores y paréntesis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 errores antes de generar código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expresión contiene un error semántico, el compilador no avanza a la siguiente fase: el botón para continuar se deshabilita. Así no se produce código a partir de una expresión sin sentido.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373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soporte a las fases posteriores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detectadas forman la tabla de símbolos y se reutilizan después, por ejemplo al reservar espacio para ellas en la fase de memoria simulada.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7373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7590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 la teoría de Lenguajes y Autómatas II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566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conceptos vistos en clase (tabla de símbolos, validaciones semánticas, notación postfija) en un programa funcional que se puede ver y probar.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 el proyecto?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la expresión aritmética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4688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368296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0E9AA7"/>
          </a:solidFill>
          <a:ln w="9525">
            <a:solidFill>
              <a:srgbClr val="0E9A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51176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semántico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 y validaciones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59936" y="24688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79392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62272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postfija y registros R1–R8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71032" y="24688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90488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73368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Ensamblador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Mnemónicos a código máquina (hex)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24688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101584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84464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máquina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binario, decimal y hex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93224" y="24688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012680" y="1554480"/>
            <a:ext cx="1691640" cy="26517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195560" y="17373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31089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first-fit en 64 localidades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17720"/>
            <a:ext cx="11274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2 es el objetivo de esta práctica. Si el análisis semántico encuentra errores, el compilador los muestra en pantalla y no permite pasar a la generación de código. Las demás fases se incluyen en el proyecto como parte del recorrido completo del compilador.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MainApp: punto de entrada de la aplicación</a:t>
            </a:r>
            <a:endParaRPr lang="en-US" sz="2800" dirty="0"/>
          </a:p>
        </p:txBody>
      </p:sp>
      <p:pic>
        <p:nvPicPr>
          <p:cNvPr id="3" name="Image 0" descr="Captura: MainApp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658485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167245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MainApp.java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clase que arranca la aplicación. Extiende Application de JavaFX y, en el método start(), carga la interfaz compilador-view.fxml con FXMLLoader, le pone el título «Compilador: Generación de código objeto» y muestra una ventana de 600 × 400. El método main() solo llama a launch(). En el árbol de la izquierda se ve cómo está organizado el proyecto: un paquete por fase (registros, ensamblador, lenguajemaquina, memoria y semantico).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EntradaController: captura de la expresión</a:t>
            </a:r>
            <a:endParaRPr lang="en-US" sz="2800" dirty="0"/>
          </a:p>
        </p:txBody>
      </p:sp>
      <p:pic>
        <p:nvPicPr>
          <p:cNvPr id="3" name="Image 0" descr="Captura: EntradaController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619631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128391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2. EntradaController.java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la pantalla donde el usuario escribe la expresión. Tiene un campo de texto (campoExpresion) y una etiqueta para mensajes (etiquetaError). El método compilar() lee el texto, intenta compilarlo con CompilerContext y pasa a la siguiente pantalla; si algo falla, atrapa la excepción y muestra «Expresión no válida. Usa variables, + - * / y paréntesis.». Esta clase pertenece a la navegación por pantallas separadas que se conserva en el proyecto.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MenuController: navegación entre secciones</a:t>
            </a:r>
            <a:endParaRPr lang="en-US" sz="2800" dirty="0"/>
          </a:p>
        </p:txBody>
      </p:sp>
      <p:pic>
        <p:nvPicPr>
          <p:cNvPr id="3" name="Image 0" descr="Captura: MenuController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615755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124515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3. MenuController.java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controlador del menú principal. Cada método (irARegistros, irAEnsamblador, irALenguajeMaquina e irAMemoria) llama a Navegador.cargar() con la ruta del archivo FXML que debe abrirse. Así, cada botón del menú lleva a una sección distinta del compilador sin repetir código: lo único que cambia es la vista que se carga.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AnalizadorSemantico: núcleo de la práctica</a:t>
            </a:r>
            <a:endParaRPr lang="en-US" sz="2800" dirty="0"/>
          </a:p>
        </p:txBody>
      </p:sp>
      <p:pic>
        <p:nvPicPr>
          <p:cNvPr id="3" name="Image 0" descr="Captura: AnalizadorSemantico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766298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27505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4. AnalizadorSemantico.java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 el corazón de la práctica. Primero recorre las variables y crea la tabla de símbolos: si el nombre cumple la expresión regular [a-zA-Z_][a-zA-Z0-9_]*, lo guarda con tipo «entero» y su orden; si no, registra un error. Después quita los espacios de la expresión y aplica tres reglas: (1) división entre el literal 0; (2) operadores consecutivos, como a + * b; (3) paréntesis balanceados, con un contador que sube con «(» y baja con «)». Si la lista de errores queda vacía, el resultado es válido y el compilador puede avanzar.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RegistroAllocator: notación postfija y variables</a:t>
            </a:r>
            <a:endParaRPr lang="en-US" sz="2800" dirty="0"/>
          </a:p>
        </p:txBody>
      </p:sp>
      <p:pic>
        <p:nvPicPr>
          <p:cNvPr id="3" name="Image 0" descr="Captura: RegistroAllocator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788896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2976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5. RegistroAllocator.java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clase prepara los datos que recibe el analizador. Contiene la clase interna Resultado (con la notación postfija, las instrucciones y los registros usados), el método precedencia() —suma y resta valen 1; multiplicación y división valen 2— y esOperador(). El método extraerVariables() convierte la expresión a postfija y se queda solo con los tokens que no son operadores ni números (regex -?\d+): las variables que irán a la tabla de símbolos.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MemoriaSimulada: administración de memoria</a:t>
            </a:r>
            <a:endParaRPr lang="en-US" sz="2800" dirty="0"/>
          </a:p>
        </p:txBody>
      </p:sp>
      <p:pic>
        <p:nvPicPr>
          <p:cNvPr id="3" name="Image 0" descr="Captura: MemoriaSimulada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777597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286357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6. MemoriaSimulada.java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la memoria principal como un arreglo de 64 localidades de 1 byte (TAMANIO = 64). El arreglo celdas guarda el nombre de la variable dueña de cada localidad (o null si está libre) y tablaAsignacion relaciona cada variable con [inicio, tamaño]. El método asignar() busca el primer hueco libre contiguo con tamaño suficiente (first-fit) y lanza un error si la variable ya existe en memoria.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EnsambladorSimulador: traducción a código máquina</a:t>
            </a:r>
            <a:endParaRPr lang="en-US" sz="2800" dirty="0"/>
          </a:p>
        </p:txBody>
      </p:sp>
      <p:pic>
        <p:nvPicPr>
          <p:cNvPr id="3" name="Image 0" descr="Captura: EnsambladorSimulador.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807728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3164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7. EnsambladorSimulador.java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un programa en ensamblador a código máquina en dos pasadas. En la primera separa las etiquetas, ignora los comentarios después de «;» y guarda en una tabla de símbolos la posición de cada etiqueta. En la segunda toma cada instrucción, convierte el mnemónico a mayúsculas, busca su código de operación (OPCODES) y resuelve el operando; si el mnemónico no existe, devuelve «ERROR: mnemónico desconocido».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menu-view.fxml: interfaz del menú principal</a:t>
            </a:r>
            <a:endParaRPr lang="en-US" sz="2800" dirty="0"/>
          </a:p>
        </p:txBody>
      </p:sp>
      <p:pic>
        <p:nvPicPr>
          <p:cNvPr id="3" name="Image 0" descr="Captura: menu-view.fx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777597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286357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8. menu-view.fxml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vista del menú principal escrita en FXML. Usa un VBox centrado con un título («Generación de código objeto»), una frase de instrucción y cuatro botones: Registros, Lenguaje ensamblador, Lenguaje máquina y Administración de memoria. Cada botón tiene un atributo onAction (por ejemplo #irARegistros) que lo enlaza con el método del mismo nombre en MenuController.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compilador-view.fxml: panel de análisis semántico</a:t>
            </a:r>
            <a:endParaRPr lang="en-US" sz="2800" dirty="0"/>
          </a:p>
        </p:txBody>
      </p:sp>
      <p:pic>
        <p:nvPicPr>
          <p:cNvPr id="3" name="Image 0" descr="Captura: compilador-view.fxm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223760" cy="379642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305189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9. compilador-view.fxml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vista principal del compilador. Un StackPane contiene un panel por fase y solo uno se muestra a la vez. El panelEntrada tiene el campo campoExpresion (con la expresión de ejemplo «a + b * c - d») y el botón «Compilar -&gt;». El panelSemantico, que aparece en la captura, tiene el título «Análisis semántico», una TableView (tablaSimbolos) con las columnas #, Nombre y Tipo inferido, y un TextArea no editable (erroresSemanticos) donde se listan los errores.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Ejecución: ventana principal del compilador</a:t>
            </a:r>
            <a:endParaRPr lang="en-US" sz="2800" dirty="0"/>
          </a:p>
        </p:txBody>
      </p:sp>
      <p:pic>
        <p:nvPicPr>
          <p:cNvPr id="3" name="Image 0" descr="Captura: Aplicación en ejecu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37" y="1371600"/>
            <a:ext cx="5438087" cy="397764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5486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10. Aplicación en ejecución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965960"/>
            <a:ext cx="3246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la aplicación en ejecución. Aparece la ventana «Compilador: Generación de código objeto» con la indicación «Escribe una expresión aritmética como código fuente», el campo donde se captura la expresión y el botón «Compilar -&gt;». Al presionarlo, la expresión pasa al análisis semántico, que es la primera fase del compilador.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funcionamiento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* c -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símbolos; postfija a b c * + d -; 3 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+ y) * z2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símbolos; 2 registros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División entre cero detectada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Paréntesis no balanceados (además marca «(» como identificador)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Paréntesis no balanceados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2abc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no válido: «2abc»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(vacía)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expresión está vacía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*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generador de código la detiene antes: «Expresión no válida…»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obtenidos al ejecutar las clases AnalizadorSemantico y RegistroAllocator del proyecto con cada expresión.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y mejoras posibles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consecutivos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existe en el analizador, pero con a + * b, a ++ b o a * -b el generador de código falla antes con una excepción. En pantalla aparece el mensaje general «Expresión no válida…» y no el mensaje semántico.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37360"/>
            <a:ext cx="640080" cy="6400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División entre cero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32918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detecta el literal 0 (total / 0). Una expresión como a / (b - b) se considera válida, porque su valor no se calcula al compilar.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1584" y="1463040"/>
            <a:ext cx="3630168" cy="448056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737360"/>
            <a:ext cx="640080" cy="6400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7590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y mensajes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2918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variables se infieren como «entero» y los decimales (a + 3.5) se rechazan como identificador inválido. Con «(a + b» se muestran dos errores para un mismo problema.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cumple su propósito: la expresión pasa por el análisis semántico, que construye la tabla de símbolos y valida identificadores, división entre 0, operadores consecutivos y paréntesis. Las pruebas confirmaron que detecta los errores más comunes y que solo permite avanzar cuando la expresión es válida. También se identificaron mejoras concretas, lo que muestra que entender cómo se implementa cada regla ayuda a reconocer sus límites.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3630168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tabla de símbolos y bloquea el avance cuando hay errores.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79392" y="3474720"/>
            <a:ext cx="3630168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inválidos, división entre 0, paréntesis sin balancear y expresión vacía.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01584" y="3474720"/>
            <a:ext cx="3630168" cy="25603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Puede mejorar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operadores antes de generar código y detectar divisiones por expresiones nulas.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</a:t>
            </a:r>
            <a:r>
              <a:rPr lang="en-US" sz="2800" b="1" dirty="0" err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 (s. f.). Lesson: Regular Expressions. The Java™ Tutorials.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https://docs.oracle.com/javase/tutorial/essential/regex/intro.html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 (2013). Introduction to FXML (JavaFX 8).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https://docs.oracle.com/javase/8/javafx/api/javafx/fxml/doc-files/introduction_to_fxml.html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GeeksforGeeks. (2020). Semantic Analysis in Compiler Design.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https://www.geeksforgeeks.org/?p=350245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Kutztown University. (2020). Semantic Analysis [notas de clase, CSC 425].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https://csit.kutztown.edu/~schwesin/spring20/csc526/lectures/Semantic_Analysis.pdf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Washington. (2004). Semantic analysis and type checking [diapositivas, CSE 401].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https://www.cs.washington.edu/education/courses/cse401/04sp/slides/04-typechecking.pdf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C23E2-62F2-7DC4-B140-E84AB2A8B946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s-MX" dirty="0"/>
              <a:t>ANEXO LINK DE LA ACTIVIDAD SOLICITADA Y ENVIADA POR GITHUB:</a:t>
            </a:r>
          </a:p>
        </p:txBody>
      </p:sp>
      <p:sp>
        <p:nvSpPr>
          <p:cNvPr id="4" name="CuadroTexto 3">
            <a:hlinkClick r:id="rId2"/>
            <a:extLst>
              <a:ext uri="{FF2B5EF4-FFF2-40B4-BE49-F238E27FC236}">
                <a16:creationId xmlns:a16="http://schemas.microsoft.com/office/drawing/2014/main" id="{79BD374B-CA87-C319-7009-466C6F8DC991}"/>
              </a:ext>
            </a:extLst>
          </p:cNvPr>
          <p:cNvSpPr txBox="1"/>
          <p:nvPr/>
        </p:nvSpPr>
        <p:spPr>
          <a:xfrm>
            <a:off x="599440" y="1548676"/>
            <a:ext cx="11274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https://github.com/Cynthia21Morales/LYAII_CynthiaJasmineMT/blob/main/LYAII-Tema-4/Actividad%204.2%20Proyecto%20Analizador%20Sem%C3%A1ntico%20en%20Java_CynthiaMorales_LYAII_7ISCM.pptx</a:t>
            </a:r>
          </a:p>
        </p:txBody>
      </p:sp>
      <p:sp>
        <p:nvSpPr>
          <p:cNvPr id="6" name="CuadroTexto 5">
            <a:hlinkClick r:id="rId3"/>
            <a:extLst>
              <a:ext uri="{FF2B5EF4-FFF2-40B4-BE49-F238E27FC236}">
                <a16:creationId xmlns:a16="http://schemas.microsoft.com/office/drawing/2014/main" id="{4A8286A7-2CA3-97BC-1A1F-0424FDB20F1F}"/>
              </a:ext>
            </a:extLst>
          </p:cNvPr>
          <p:cNvSpPr txBox="1"/>
          <p:nvPr/>
        </p:nvSpPr>
        <p:spPr>
          <a:xfrm>
            <a:off x="599440" y="3105835"/>
            <a:ext cx="11132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https://github.com/Cynthia21Morales/LYAII_CynthiaJasmineMT/tree/main/LYAII-Tema-4/GeneracionDeCodigoObjeto1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F390E1-A648-0314-506F-AB04FF19D427}"/>
              </a:ext>
            </a:extLst>
          </p:cNvPr>
          <p:cNvSpPr txBox="1"/>
          <p:nvPr/>
        </p:nvSpPr>
        <p:spPr>
          <a:xfrm>
            <a:off x="599440" y="2550160"/>
            <a:ext cx="757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JUNTO A ELLA SE ADJUNTA EL PROYECTO ANALIZADOR REALIZADO</a:t>
            </a:r>
          </a:p>
        </p:txBody>
      </p:sp>
    </p:spTree>
    <p:extLst>
      <p:ext uri="{BB962C8B-B14F-4D97-AF65-F5344CB8AC3E}">
        <p14:creationId xmlns:p14="http://schemas.microsoft.com/office/powerpoint/2010/main" val="3167876518"/>
      </p:ext>
    </p:extLst>
  </p:cSld>
  <p:clrMapOvr>
    <a:masterClrMapping/>
  </p:clrMapOvr>
</p:sld>
</file>

<file path=ppt/theme/theme1.xml><?xml version="1.0" encoding="utf-8"?>
<a:theme xmlns:a="http://schemas.openxmlformats.org/drawingml/2006/main" name="Compilador">
  <a:themeElements>
    <a:clrScheme name="Compilador">
      <a:dk1>
        <a:srgbClr val="0F172A"/>
      </a:dk1>
      <a:lt1>
        <a:srgbClr val="FFFFFF"/>
      </a:lt1>
      <a:dk2>
        <a:srgbClr val="1E293B"/>
      </a:dk2>
      <a:lt2>
        <a:srgbClr val="F4F7FA"/>
      </a:lt2>
      <a:accent1>
        <a:srgbClr val="0E9AA7"/>
      </a:accent1>
      <a:accent2>
        <a:srgbClr val="F4B942"/>
      </a:accent2>
      <a:accent3>
        <a:srgbClr val="334155"/>
      </a:accent3>
      <a:accent4>
        <a:srgbClr val="64748B"/>
      </a:accent4>
      <a:accent5>
        <a:srgbClr val="38BDF8"/>
      </a:accent5>
      <a:accent6>
        <a:srgbClr val="E11D48"/>
      </a:accent6>
      <a:hlink>
        <a:srgbClr val="0E7490"/>
      </a:hlink>
      <a:folHlink>
        <a:srgbClr val="64748B"/>
      </a:folHlink>
    </a:clrScheme>
    <a:fontScheme name="Compilad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2163</Words>
  <Application>Microsoft Office PowerPoint</Application>
  <PresentationFormat>Panorámica</PresentationFormat>
  <Paragraphs>227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Century Gothic</vt:lpstr>
      <vt:lpstr>Courier New</vt:lpstr>
      <vt:lpstr>Compilador</vt:lpstr>
      <vt:lpstr>Presentación de PowerPoint</vt:lpstr>
      <vt:lpstr>Presentación de PowerPoint</vt:lpstr>
      <vt:lpstr>Introducción</vt:lpstr>
      <vt:lpstr>Justificación</vt:lpstr>
      <vt:lpstr>¿Cómo funciona el proyecto?</vt:lpstr>
      <vt:lpstr>MainApp: punto de entrada de la aplicación</vt:lpstr>
      <vt:lpstr>EntradaController: captura de la expresión</vt:lpstr>
      <vt:lpstr>MenuController: navegación entre secciones</vt:lpstr>
      <vt:lpstr>AnalizadorSemantico: núcleo de la práctica</vt:lpstr>
      <vt:lpstr>RegistroAllocator: notación postfija y variables</vt:lpstr>
      <vt:lpstr>MemoriaSimulada: administración de memoria</vt:lpstr>
      <vt:lpstr>EnsambladorSimulador: traducción a código máquina</vt:lpstr>
      <vt:lpstr>menu-view.fxml: interfaz del menú principal</vt:lpstr>
      <vt:lpstr>compilador-view.fxml: panel de análisis semántico</vt:lpstr>
      <vt:lpstr>Ejecución: ventana principal del compilador</vt:lpstr>
      <vt:lpstr>Pruebas de funcionamiento</vt:lpstr>
      <vt:lpstr>Observaciones y mejoras posibles</vt:lpstr>
      <vt:lpstr>Conclusión</vt:lpstr>
      <vt:lpstr>Fuentes de Información</vt:lpstr>
      <vt:lpstr>ANEXO LINK DE LA ACTIVIDAD SOLICITADA Y ENVIADA POR GITHUB: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4.2 - Proyecto Analizador Semántico en Java</dc:title>
  <dc:subject>PptxGenJS Presentation</dc:subject>
  <dc:creator>Cynthia Morales</dc:creator>
  <cp:lastModifiedBy>Jasmine Morales</cp:lastModifiedBy>
  <cp:revision>4</cp:revision>
  <dcterms:created xsi:type="dcterms:W3CDTF">2026-10-03T13:11:05Z</dcterms:created>
  <dcterms:modified xsi:type="dcterms:W3CDTF">2026-10-04T00:52:25Z</dcterms:modified>
</cp:coreProperties>
</file>