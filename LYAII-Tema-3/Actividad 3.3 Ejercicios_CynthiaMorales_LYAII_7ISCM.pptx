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5" r:id="rId6"/>
    <p:sldId id="264" r:id="rId7"/>
    <p:sldId id="260" r:id="rId8"/>
    <p:sldId id="261" r:id="rId9"/>
    <p:sldId id="263" r:id="rId10"/>
    <p:sldId id="266" r:id="rId11"/>
    <p:sldId id="267" r:id="rId12"/>
    <p:sldId id="262" r:id="rId13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BA5493-8A59-CD9C-4F5B-AF7F677FE6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20B4685-13AA-C65C-112A-1ABE48F712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B0DA162-0632-37F5-39B0-D52E83840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2080D-BEDF-4E18-9827-3FDF282D27BB}" type="datetimeFigureOut">
              <a:rPr lang="es-MX" smtClean="0"/>
              <a:t>20/09/2026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8DB855D-054C-7110-3EA0-098A1E246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3809421-DC60-4E23-9D24-596348430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CE74B-9B9E-4CD4-B90C-C872FC7B576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78902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96F250-5329-257E-2656-DBE36F084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3DC0E2C-8E65-D1C2-00CD-89632010F7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3FD465C-ED76-7D2B-0E00-A02C50025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2080D-BEDF-4E18-9827-3FDF282D27BB}" type="datetimeFigureOut">
              <a:rPr lang="es-MX" smtClean="0"/>
              <a:t>20/09/2026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66581F8-168D-2106-B81B-3E5964B0C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A15307B-7B66-4D10-C997-9E06B4FB8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CE74B-9B9E-4CD4-B90C-C872FC7B576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355094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420EE7-F727-6D3D-2258-814526F66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0C9490A-5DEE-860C-4E45-5E57D2FFCB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08015E0-B707-576E-21AF-578559F63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2080D-BEDF-4E18-9827-3FDF282D27BB}" type="datetimeFigureOut">
              <a:rPr lang="es-MX" smtClean="0"/>
              <a:t>20/09/2026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3E09D3E-720E-2929-2DD2-666643A0D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96B40B8-9F2C-8625-0FF1-16847D57A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CE74B-9B9E-4CD4-B90C-C872FC7B576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18655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EA7D2A-65D0-8BD9-3494-04CF0942D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CC01EBD-E821-4FB3-389B-E7A0921EAF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00D6F72-AA9E-B287-3613-01526BCE4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C10FC14-5E59-A955-60C0-353A4D4AA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2080D-BEDF-4E18-9827-3FDF282D27BB}" type="datetimeFigureOut">
              <a:rPr lang="es-MX" smtClean="0"/>
              <a:t>20/09/2026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F9A1970-BC89-E509-CFB7-FAD13BCCA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1A72694-8758-0589-CCEB-AEBBBC148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CE74B-9B9E-4CD4-B90C-C872FC7B576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554640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56249A-5001-EB61-60BE-CCA193693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3651A42-CC1B-21F1-2781-CED460EAB8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4049A23-2603-0804-1127-A75CCB025F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37F2CA0-2269-1F97-A9DE-F0E79B06F9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7EB3BFD-F588-89A0-3A16-C01D636CB4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68AA155-A8BA-6F94-2F6F-4AE26507F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2080D-BEDF-4E18-9827-3FDF282D27BB}" type="datetimeFigureOut">
              <a:rPr lang="es-MX" smtClean="0"/>
              <a:t>20/09/2026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248AF0A-4074-27B0-3A0B-B71901D12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C3D6C52-FCB6-0D5B-5C14-B32412D07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CE74B-9B9E-4CD4-B90C-C872FC7B576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81763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B02EF4-8317-07FB-44E8-470244555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9A6F9E9-67A8-22C5-DF5A-EA5FA1CE5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2080D-BEDF-4E18-9827-3FDF282D27BB}" type="datetimeFigureOut">
              <a:rPr lang="es-MX" smtClean="0"/>
              <a:t>20/09/2026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90BCC93-B516-4D50-99BD-6DF3C7E7E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490BA4E-B8AC-D724-C91B-5EFA57203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CE74B-9B9E-4CD4-B90C-C872FC7B576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619953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74D931F-A199-95BB-831F-1C555607E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2080D-BEDF-4E18-9827-3FDF282D27BB}" type="datetimeFigureOut">
              <a:rPr lang="es-MX" smtClean="0"/>
              <a:t>20/09/2026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5C7D404-36F1-4174-E793-BD1065ED5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1A523DF-585F-632A-6894-80148B742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CE74B-9B9E-4CD4-B90C-C872FC7B576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62940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2B61A0-B15B-51D5-1FED-41EB9FF8E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B552CC6-11E4-2DC2-85B0-68438416DC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CC3A144-CFBB-C899-E048-3B304434F4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C2DCAF0-9F11-0160-3D81-AB9DE2323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2080D-BEDF-4E18-9827-3FDF282D27BB}" type="datetimeFigureOut">
              <a:rPr lang="es-MX" smtClean="0"/>
              <a:t>20/09/2026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01191BE-EA5B-5D89-EA5D-F9EC04007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DE51E0D-7465-6B15-16BA-ED4BE306C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CE74B-9B9E-4CD4-B90C-C872FC7B576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335543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5E28CC-E53C-A017-162E-EA6194E37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56776041-4274-ECED-4F0A-567B8805A9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88307F5-0BBD-CD57-7F4B-A36C622B58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14CF9AF-D969-24A3-C129-BDCDD4BBC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2080D-BEDF-4E18-9827-3FDF282D27BB}" type="datetimeFigureOut">
              <a:rPr lang="es-MX" smtClean="0"/>
              <a:t>20/09/2026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24EC8F4-2A56-A827-91E6-C35E21FCF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7BE51B3-4C4B-611B-A649-E67034708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CE74B-9B9E-4CD4-B90C-C872FC7B576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87776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B93B56-4341-7B0C-5363-B31B78546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BD21B4D-F760-CC0F-8426-1EBFFBC490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98A94EE-3ABF-0E88-B20B-8106DF2C0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2080D-BEDF-4E18-9827-3FDF282D27BB}" type="datetimeFigureOut">
              <a:rPr lang="es-MX" smtClean="0"/>
              <a:t>20/09/2026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12FBA03-CF09-8D86-6107-009101629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9A2492C-03B2-E2F8-9722-4DDEBEF60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CE74B-9B9E-4CD4-B90C-C872FC7B576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252231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E4C8962-D916-48F9-72C6-9FD3DB14A3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DE2410A-66A9-AE60-2D2B-29817CF8D4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2A0FA6F-C46C-3FF6-9F5B-BA67DEFD2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2080D-BEDF-4E18-9827-3FDF282D27BB}" type="datetimeFigureOut">
              <a:rPr lang="es-MX" smtClean="0"/>
              <a:t>20/09/2026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060DEA3-0BAA-287E-8CA4-8BF1F8FC3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7CDCAD5-6EA6-4783-94AA-B12E05D81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CE74B-9B9E-4CD4-B90C-C872FC7B576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155940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D82B105-1547-F095-FDB9-E8E3D8BD4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38979B2-45C3-7194-E881-72302EB7BB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D75CD78-35EE-6817-8EA5-2B5DCA7DAD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72080D-BEDF-4E18-9827-3FDF282D27BB}" type="datetimeFigureOut">
              <a:rPr lang="es-MX" smtClean="0"/>
              <a:t>20/09/2026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2618FCC-4791-FFB9-6C24-B5F6A1613A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810859F-5832-12CF-BF71-11099B4B35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BCE74B-9B9E-4CD4-B90C-C872FC7B5760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53824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9">
            <a:extLst>
              <a:ext uri="{FF2B5EF4-FFF2-40B4-BE49-F238E27FC236}">
                <a16:creationId xmlns:a16="http://schemas.microsoft.com/office/drawing/2014/main" id="{35CA806C-8054-9228-22D0-77B028074264}"/>
              </a:ext>
            </a:extLst>
          </p:cNvPr>
          <p:cNvSpPr txBox="1"/>
          <p:nvPr/>
        </p:nvSpPr>
        <p:spPr>
          <a:xfrm>
            <a:off x="2402908" y="1880767"/>
            <a:ext cx="7644625" cy="49244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Materia:</a:t>
            </a:r>
          </a:p>
          <a:p>
            <a:pPr algn="ctr"/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Lenguajes</a:t>
            </a: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y </a:t>
            </a:r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Automatas</a:t>
            </a: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II</a:t>
            </a:r>
          </a:p>
          <a:p>
            <a:pPr algn="ctr"/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Semestre: </a:t>
            </a:r>
          </a:p>
          <a:p>
            <a:pPr algn="ctr"/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Septimo</a:t>
            </a: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semestre </a:t>
            </a:r>
          </a:p>
          <a:p>
            <a:pPr algn="ctr"/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Especialidad: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Ingeniería en Sistemas Computacionales.</a:t>
            </a:r>
          </a:p>
          <a:p>
            <a:pPr algn="ctr"/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Nombre del alumno:</a:t>
            </a:r>
          </a:p>
          <a:p>
            <a:pPr algn="ctr"/>
            <a:r>
              <a:rPr lang="en-US" sz="16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Cynthia Jasmine Morales Torres / 231260014</a:t>
            </a:r>
          </a:p>
          <a:p>
            <a:pPr algn="ctr"/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Nombre del docente: 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Ing. Francisco Javier Mingo Velazquez </a:t>
            </a:r>
          </a:p>
          <a:p>
            <a:pPr algn="ctr"/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Nombre del trabajo:</a:t>
            </a: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3.3 </a:t>
            </a:r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Ejercicios</a:t>
            </a:r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</a:t>
            </a:r>
          </a:p>
          <a:p>
            <a:pPr algn="ctr"/>
            <a:endParaRPr lang="en-US" sz="1600" dirty="0">
              <a:solidFill>
                <a:srgbClr val="000000"/>
              </a:solidFill>
              <a:latin typeface="Century Gothic" panose="020B0502020202020204" pitchFamily="34" charset="0"/>
              <a:ea typeface="Glacial Indifference"/>
              <a:cs typeface="Glacial Indifference"/>
              <a:sym typeface="Glacial Indifference"/>
            </a:endParaRPr>
          </a:p>
          <a:p>
            <a:pPr algn="ctr"/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Frontera Comalapa, Chiapas. A 22 de </a:t>
            </a:r>
            <a:r>
              <a:rPr lang="en-US" sz="1600" dirty="0" err="1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septiembre</a:t>
            </a:r>
            <a:r>
              <a:rPr lang="en-US" sz="1600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 del 2026.</a:t>
            </a:r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1348612E-1FE6-7286-5DD5-7AE7F952F468}"/>
              </a:ext>
            </a:extLst>
          </p:cNvPr>
          <p:cNvSpPr txBox="1"/>
          <p:nvPr/>
        </p:nvSpPr>
        <p:spPr>
          <a:xfrm>
            <a:off x="2046984" y="997338"/>
            <a:ext cx="8356475" cy="7092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08"/>
              </a:lnSpc>
            </a:pPr>
            <a:r>
              <a:rPr lang="en-US" sz="16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Instituto Tecnológico de Frontera Comalapa </a:t>
            </a:r>
          </a:p>
          <a:p>
            <a:pPr algn="ctr">
              <a:lnSpc>
                <a:spcPts val="2908"/>
              </a:lnSpc>
            </a:pPr>
            <a:r>
              <a:rPr lang="en-US" sz="1600" b="1" dirty="0">
                <a:solidFill>
                  <a:srgbClr val="000000"/>
                </a:solidFill>
                <a:latin typeface="Century Gothic" panose="020B0502020202020204" pitchFamily="34" charset="0"/>
                <a:ea typeface="Glacial Indifference"/>
                <a:cs typeface="Glacial Indifference"/>
                <a:sym typeface="Glacial Indifference"/>
              </a:rPr>
              <a:t>Modalidad Mixta</a:t>
            </a:r>
          </a:p>
        </p:txBody>
      </p:sp>
      <p:grpSp>
        <p:nvGrpSpPr>
          <p:cNvPr id="6" name="Group 2">
            <a:extLst>
              <a:ext uri="{FF2B5EF4-FFF2-40B4-BE49-F238E27FC236}">
                <a16:creationId xmlns:a16="http://schemas.microsoft.com/office/drawing/2014/main" id="{59D355C4-6D1C-76A7-85E5-3F409BA38E5A}"/>
              </a:ext>
            </a:extLst>
          </p:cNvPr>
          <p:cNvGrpSpPr/>
          <p:nvPr/>
        </p:nvGrpSpPr>
        <p:grpSpPr>
          <a:xfrm>
            <a:off x="1118708" y="31119"/>
            <a:ext cx="2709599" cy="1198176"/>
            <a:chOff x="0" y="0"/>
            <a:chExt cx="3073400" cy="1308100"/>
          </a:xfrm>
        </p:grpSpPr>
        <p:sp>
          <p:nvSpPr>
            <p:cNvPr id="7" name="Freeform 3">
              <a:extLst>
                <a:ext uri="{FF2B5EF4-FFF2-40B4-BE49-F238E27FC236}">
                  <a16:creationId xmlns:a16="http://schemas.microsoft.com/office/drawing/2014/main" id="{6EB08079-0AF7-92E8-BF7A-C032F9693062}"/>
                </a:ext>
              </a:extLst>
            </p:cNvPr>
            <p:cNvSpPr/>
            <p:nvPr/>
          </p:nvSpPr>
          <p:spPr>
            <a:xfrm>
              <a:off x="0" y="0"/>
              <a:ext cx="3073400" cy="1308100"/>
            </a:xfrm>
            <a:custGeom>
              <a:avLst/>
              <a:gdLst/>
              <a:ahLst/>
              <a:cxnLst/>
              <a:rect l="l" t="t" r="r" b="b"/>
              <a:pathLst>
                <a:path w="3073400" h="1308100">
                  <a:moveTo>
                    <a:pt x="0" y="0"/>
                  </a:moveTo>
                  <a:lnTo>
                    <a:pt x="3073400" y="0"/>
                  </a:lnTo>
                  <a:lnTo>
                    <a:pt x="3073400" y="1308100"/>
                  </a:lnTo>
                  <a:lnTo>
                    <a:pt x="0" y="13081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8" name="Group 4">
            <a:extLst>
              <a:ext uri="{FF2B5EF4-FFF2-40B4-BE49-F238E27FC236}">
                <a16:creationId xmlns:a16="http://schemas.microsoft.com/office/drawing/2014/main" id="{6198643C-CB02-7359-CA0E-21283F21DD03}"/>
              </a:ext>
            </a:extLst>
          </p:cNvPr>
          <p:cNvGrpSpPr/>
          <p:nvPr/>
        </p:nvGrpSpPr>
        <p:grpSpPr>
          <a:xfrm>
            <a:off x="9459465" y="106714"/>
            <a:ext cx="1872270" cy="1245240"/>
            <a:chOff x="0" y="0"/>
            <a:chExt cx="1981200" cy="1625600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9130AB54-C22A-358E-90F2-7068C5EE0F90}"/>
                </a:ext>
              </a:extLst>
            </p:cNvPr>
            <p:cNvSpPr/>
            <p:nvPr/>
          </p:nvSpPr>
          <p:spPr>
            <a:xfrm>
              <a:off x="0" y="0"/>
              <a:ext cx="1981200" cy="1625600"/>
            </a:xfrm>
            <a:custGeom>
              <a:avLst/>
              <a:gdLst/>
              <a:ahLst/>
              <a:cxnLst/>
              <a:rect l="l" t="t" r="r" b="b"/>
              <a:pathLst>
                <a:path w="1981200" h="1625600">
                  <a:moveTo>
                    <a:pt x="0" y="0"/>
                  </a:moveTo>
                  <a:lnTo>
                    <a:pt x="1981200" y="0"/>
                  </a:lnTo>
                  <a:lnTo>
                    <a:pt x="1981200" y="1625600"/>
                  </a:lnTo>
                  <a:lnTo>
                    <a:pt x="0" y="1625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10" name="Group 6">
            <a:extLst>
              <a:ext uri="{FF2B5EF4-FFF2-40B4-BE49-F238E27FC236}">
                <a16:creationId xmlns:a16="http://schemas.microsoft.com/office/drawing/2014/main" id="{B48F14E0-4429-2946-9CCF-674EDB32A65C}"/>
              </a:ext>
            </a:extLst>
          </p:cNvPr>
          <p:cNvGrpSpPr/>
          <p:nvPr/>
        </p:nvGrpSpPr>
        <p:grpSpPr>
          <a:xfrm>
            <a:off x="4609388" y="269788"/>
            <a:ext cx="3812814" cy="709234"/>
            <a:chOff x="0" y="0"/>
            <a:chExt cx="4343400" cy="901700"/>
          </a:xfrm>
        </p:grpSpPr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09F8C9E4-3920-ACD7-442A-D675D0B0A839}"/>
                </a:ext>
              </a:extLst>
            </p:cNvPr>
            <p:cNvSpPr/>
            <p:nvPr/>
          </p:nvSpPr>
          <p:spPr>
            <a:xfrm>
              <a:off x="0" y="0"/>
              <a:ext cx="4343400" cy="901700"/>
            </a:xfrm>
            <a:custGeom>
              <a:avLst/>
              <a:gdLst/>
              <a:ahLst/>
              <a:cxnLst/>
              <a:rect l="l" t="t" r="r" b="b"/>
              <a:pathLst>
                <a:path w="4343400" h="901700">
                  <a:moveTo>
                    <a:pt x="0" y="0"/>
                  </a:moveTo>
                  <a:lnTo>
                    <a:pt x="4343400" y="0"/>
                  </a:lnTo>
                  <a:lnTo>
                    <a:pt x="4343400" y="901700"/>
                  </a:lnTo>
                  <a:lnTo>
                    <a:pt x="0" y="9017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</p:spTree>
    <p:extLst>
      <p:ext uri="{BB962C8B-B14F-4D97-AF65-F5344CB8AC3E}">
        <p14:creationId xmlns:p14="http://schemas.microsoft.com/office/powerpoint/2010/main" val="22246498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01F836-848F-1CEB-8763-F48293BD47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Introducción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CD8A571-ADC2-2E26-13A6-A27520CD4A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s-MX" dirty="0"/>
              <a:t>Este documento presenta una serie de ejercicios resueltos con el Optimizador de Código desarrollado previamente.</a:t>
            </a:r>
          </a:p>
          <a:p>
            <a:r>
              <a:rPr lang="es-MX" dirty="0"/>
              <a:t>Utilizando el fragmento de código x = 2 + 3; y = x * 1; z = y + 0, se aplican los distintos tipos de optimización disponibles en el programa: local, de mirilla, global, criterios para mejorar el código y análisis de flujo de datos.</a:t>
            </a:r>
          </a:p>
          <a:p>
            <a:r>
              <a:rPr lang="es-MX" dirty="0"/>
              <a:t>También se ejemplifica el análisis de costo de ejecución en sus distintas variantes: memoria, registros y pila.</a:t>
            </a:r>
          </a:p>
        </p:txBody>
      </p:sp>
    </p:spTree>
    <p:extLst>
      <p:ext uri="{BB962C8B-B14F-4D97-AF65-F5344CB8AC3E}">
        <p14:creationId xmlns:p14="http://schemas.microsoft.com/office/powerpoint/2010/main" val="24151983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CA4C14-0CD7-1E60-7E18-CD0ABD080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Justificación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C7620AD-2F0F-13EE-4EB6-8A1BF7A569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s-MX" dirty="0"/>
              <a:t>Practicar con un mismo fragmento de código bajo diferentes técnicas de optimización permite observar y comparar cómo cada una lo transforma de manera distinta.</a:t>
            </a:r>
          </a:p>
          <a:p>
            <a:r>
              <a:rPr lang="es-MX" dirty="0"/>
              <a:t>Desde simplificaciones locales hasta la propagación global de valores constantes, esta práctica refuerza los conceptos de la fase de optimización del proceso de compilación.</a:t>
            </a:r>
          </a:p>
          <a:p>
            <a:r>
              <a:rPr lang="es-MX" dirty="0"/>
              <a:t>Además, evidencia el impacto de cada técnica en el rendimiento y tamaño del código, y refuerza los conocimientos de la materia de Lenguajes y Autómatas II.</a:t>
            </a:r>
          </a:p>
        </p:txBody>
      </p:sp>
    </p:spTree>
    <p:extLst>
      <p:ext uri="{BB962C8B-B14F-4D97-AF65-F5344CB8AC3E}">
        <p14:creationId xmlns:p14="http://schemas.microsoft.com/office/powerpoint/2010/main" val="9248740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6398E3-29D3-9190-0223-002B71BB2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Ejercicio 1: optimización local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92FFD053-6043-A21D-E9A8-FEB0A6C69E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1564368"/>
            <a:ext cx="6723548" cy="4351338"/>
          </a:xfrm>
        </p:spPr>
      </p:pic>
      <p:sp>
        <p:nvSpPr>
          <p:cNvPr id="50" name="Explicacion"/>
          <p:cNvSpPr txBox="1"/>
          <p:nvPr/>
        </p:nvSpPr>
        <p:spPr>
          <a:xfrm>
            <a:off x="7750628" y="1829514"/>
            <a:ext cx="4071257" cy="3199686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/>
          <a:p>
            <a:pPr algn="ctr"/>
            <a:r>
              <a:rPr lang="es-MX" sz="1600" dirty="0"/>
              <a:t>Se analiza el código x = 2 + 3; y = x * 1; z = y + 0. La optimización local resuelve la operación con constantes (2+3=5) y simplifica las identidades algebraicas (x*1=x, y+0=y), obteniendo: x=5, y=x, z=y.</a:t>
            </a:r>
          </a:p>
        </p:txBody>
      </p:sp>
    </p:spTree>
    <p:extLst>
      <p:ext uri="{BB962C8B-B14F-4D97-AF65-F5344CB8AC3E}">
        <p14:creationId xmlns:p14="http://schemas.microsoft.com/office/powerpoint/2010/main" val="42916474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D586D-1AE6-23BA-B1D0-9D5EBAD2D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Ejercicio 2: criterios para mejorar el código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E57B6CED-21B3-1C36-E20A-4A37B818D0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53353" y="1597025"/>
            <a:ext cx="6485294" cy="4351338"/>
          </a:xfrm>
        </p:spPr>
      </p:pic>
      <p:sp>
        <p:nvSpPr>
          <p:cNvPr id="50" name="Explicacion"/>
          <p:cNvSpPr txBox="1"/>
          <p:nvPr/>
        </p:nvSpPr>
        <p:spPr>
          <a:xfrm>
            <a:off x="628650" y="6260000"/>
            <a:ext cx="10934700" cy="500000"/>
          </a:xfrm>
          <a:prstGeom prst="rect">
            <a:avLst/>
          </a:prstGeom>
        </p:spPr>
        <p:txBody>
          <a:bodyPr wrap="square" lIns="0" tIns="0" rIns="0" bIns="0" anchor="t">
            <a:normAutofit fontScale="85000" lnSpcReduction="10000"/>
          </a:bodyPr>
          <a:lstStyle/>
          <a:p>
            <a:pPr algn="ctr"/>
            <a:r>
              <a:rPr lang="es-MX" sz="1600" dirty="0"/>
              <a:t>Este criterio combina el plegado de constantes con la simplificación de identidades, resolviendo las dependencias entre variables y obteniendo x=5, y=5, z=5. El análisis reporta 3 instrucciones antes y después de optimizar, con una reducción de 0 (el código ya era mínimo).</a:t>
            </a:r>
          </a:p>
        </p:txBody>
      </p:sp>
    </p:spTree>
    <p:extLst>
      <p:ext uri="{BB962C8B-B14F-4D97-AF65-F5344CB8AC3E}">
        <p14:creationId xmlns:p14="http://schemas.microsoft.com/office/powerpoint/2010/main" val="14166792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56C4B0-22EF-0433-48F6-EAA7A3CA9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Ejercicio 3: costo de ejecución (análisis de registros)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BD55999E-74B7-1863-B979-488BA12C1D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02118" y="1825625"/>
            <a:ext cx="6387764" cy="4351338"/>
          </a:xfrm>
        </p:spPr>
      </p:pic>
      <p:sp>
        <p:nvSpPr>
          <p:cNvPr id="50" name="Explicacion"/>
          <p:cNvSpPr txBox="1"/>
          <p:nvPr/>
        </p:nvSpPr>
        <p:spPr>
          <a:xfrm>
            <a:off x="628650" y="6260000"/>
            <a:ext cx="10934700" cy="500000"/>
          </a:xfrm>
          <a:prstGeom prst="rect">
            <a:avLst/>
          </a:prstGeom>
        </p:spPr>
        <p:txBody>
          <a:bodyPr wrap="square" lIns="0" tIns="0" rIns="0" bIns="0" anchor="t">
            <a:normAutofit lnSpcReduction="10000"/>
          </a:bodyPr>
          <a:lstStyle/>
          <a:p>
            <a:pPr algn="ctr"/>
            <a:r>
              <a:rPr lang="es-MX" dirty="0"/>
              <a:t>El análisis de costo de ejecución reporta 3 instrucciones, 6 operaciones, 3 variables y 4 constantes, con un costo estimado de memoria de 7 y un uso estimado de 3 registros.</a:t>
            </a:r>
          </a:p>
        </p:txBody>
      </p:sp>
    </p:spTree>
    <p:extLst>
      <p:ext uri="{BB962C8B-B14F-4D97-AF65-F5344CB8AC3E}">
        <p14:creationId xmlns:p14="http://schemas.microsoft.com/office/powerpoint/2010/main" val="15262724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C051AD-B681-02AA-A540-3171795A5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Ejercicio 3: costo de ejecución (análisis de memoria)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68683B77-6625-6BF0-CDC5-932258BC3F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54390" y="1825625"/>
            <a:ext cx="6683220" cy="4351338"/>
          </a:xfrm>
        </p:spPr>
      </p:pic>
      <p:sp>
        <p:nvSpPr>
          <p:cNvPr id="50" name="Explicacion"/>
          <p:cNvSpPr txBox="1"/>
          <p:nvPr/>
        </p:nvSpPr>
        <p:spPr>
          <a:xfrm>
            <a:off x="628650" y="6260000"/>
            <a:ext cx="10934700" cy="500000"/>
          </a:xfrm>
          <a:prstGeom prst="rect">
            <a:avLst/>
          </a:prstGeom>
        </p:spPr>
        <p:txBody>
          <a:bodyPr wrap="square" lIns="0" tIns="0" rIns="0" bIns="0" anchor="t">
            <a:normAutofit lnSpcReduction="10000"/>
          </a:bodyPr>
          <a:lstStyle/>
          <a:p>
            <a:pPr algn="ctr"/>
            <a:r>
              <a:rPr lang="es-MX" dirty="0"/>
              <a:t>Se repite el análisis de costo de ejecución, ahora seleccionando “Memoria” en el análisis de costo, mostrando el mismo detalle de instrucciones, operaciones, variables y constantes del código.</a:t>
            </a:r>
          </a:p>
        </p:txBody>
      </p:sp>
    </p:spTree>
    <p:extLst>
      <p:ext uri="{BB962C8B-B14F-4D97-AF65-F5344CB8AC3E}">
        <p14:creationId xmlns:p14="http://schemas.microsoft.com/office/powerpoint/2010/main" val="34956337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1133F6-8FA3-2D9F-6373-D7528633D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Ejercicio 4: análisis de flujo de datos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9025A447-3EC8-9722-06F8-905E953A45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43507" y="1825625"/>
            <a:ext cx="6504986" cy="4351338"/>
          </a:xfrm>
        </p:spPr>
      </p:pic>
      <p:sp>
        <p:nvSpPr>
          <p:cNvPr id="50" name="Explicacion"/>
          <p:cNvSpPr txBox="1"/>
          <p:nvPr/>
        </p:nvSpPr>
        <p:spPr>
          <a:xfrm>
            <a:off x="628650" y="6260000"/>
            <a:ext cx="10934700" cy="500000"/>
          </a:xfrm>
          <a:prstGeom prst="rect">
            <a:avLst/>
          </a:prstGeom>
        </p:spPr>
        <p:txBody>
          <a:bodyPr wrap="square" lIns="0" tIns="0" rIns="0" bIns="0" anchor="t">
            <a:normAutofit lnSpcReduction="10000"/>
          </a:bodyPr>
          <a:lstStyle/>
          <a:p>
            <a:pPr algn="ctr"/>
            <a:r>
              <a:rPr lang="es-MX" dirty="0"/>
              <a:t>El análisis de flujo de datos muestra, para cada línea, las variables generadas (GEN) y eliminadas (KILL), además de las variables definidas, usadas y las referencias sin definición detectadas (ninguna en este caso).</a:t>
            </a:r>
          </a:p>
        </p:txBody>
      </p:sp>
    </p:spTree>
    <p:extLst>
      <p:ext uri="{BB962C8B-B14F-4D97-AF65-F5344CB8AC3E}">
        <p14:creationId xmlns:p14="http://schemas.microsoft.com/office/powerpoint/2010/main" val="8741967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B45E10-3450-1B19-A733-81C695788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Ejercicio 3: costo de ejecución (análisis de pila)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5FD0A660-CB58-8173-3EF4-71E9FCB1F0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13356" y="1825625"/>
            <a:ext cx="6365287" cy="4351338"/>
          </a:xfrm>
        </p:spPr>
      </p:pic>
      <p:sp>
        <p:nvSpPr>
          <p:cNvPr id="50" name="Explicacion"/>
          <p:cNvSpPr txBox="1"/>
          <p:nvPr/>
        </p:nvSpPr>
        <p:spPr>
          <a:xfrm>
            <a:off x="628650" y="6260000"/>
            <a:ext cx="10934700" cy="500000"/>
          </a:xfrm>
          <a:prstGeom prst="rect">
            <a:avLst/>
          </a:prstGeom>
        </p:spPr>
        <p:txBody>
          <a:bodyPr wrap="square" lIns="0" tIns="0" rIns="0" bIns="0" anchor="t">
            <a:normAutofit lnSpcReduction="10000"/>
          </a:bodyPr>
          <a:lstStyle/>
          <a:p>
            <a:pPr algn="ctr"/>
            <a:r>
              <a:rPr lang="es-MX" dirty="0"/>
              <a:t>Se muestra nuevamente el análisis de costo de ejecución, seleccionando “Pila” como criterio de análisis de costo, con 9 operaciones estimadas de pila.</a:t>
            </a:r>
          </a:p>
        </p:txBody>
      </p:sp>
    </p:spTree>
    <p:extLst>
      <p:ext uri="{BB962C8B-B14F-4D97-AF65-F5344CB8AC3E}">
        <p14:creationId xmlns:p14="http://schemas.microsoft.com/office/powerpoint/2010/main" val="1366665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249C79-55DF-7993-96FA-28E14802B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Ejercicio 5: optimización de mirilla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82907195-5803-73F7-7AA6-D6A54A8980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20991" y="1825625"/>
            <a:ext cx="6350017" cy="4351338"/>
          </a:xfrm>
        </p:spPr>
      </p:pic>
      <p:sp>
        <p:nvSpPr>
          <p:cNvPr id="50" name="Explicacion"/>
          <p:cNvSpPr txBox="1"/>
          <p:nvPr/>
        </p:nvSpPr>
        <p:spPr>
          <a:xfrm>
            <a:off x="628650" y="6260000"/>
            <a:ext cx="10934700" cy="500000"/>
          </a:xfrm>
          <a:prstGeom prst="rect">
            <a:avLst/>
          </a:prstGeom>
        </p:spPr>
        <p:txBody>
          <a:bodyPr wrap="square" lIns="0" tIns="0" rIns="0" bIns="0" anchor="t">
            <a:normAutofit lnSpcReduction="10000"/>
          </a:bodyPr>
          <a:lstStyle/>
          <a:p>
            <a:pPr algn="ctr"/>
            <a:r>
              <a:rPr lang="es-MX" dirty="0"/>
              <a:t>La optimización de mirilla revisa el código en una ventana reducida de instrucciones y aplica las mismas simplificaciones locales, obteniendo: x=5, y=x, z=y.</a:t>
            </a:r>
          </a:p>
        </p:txBody>
      </p:sp>
    </p:spTree>
    <p:extLst>
      <p:ext uri="{BB962C8B-B14F-4D97-AF65-F5344CB8AC3E}">
        <p14:creationId xmlns:p14="http://schemas.microsoft.com/office/powerpoint/2010/main" val="35542133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5FC59F-C076-E04A-4705-A779F7794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Ejercicio 6: optimización global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DCFA14F0-9C73-02B5-217D-3B5AF2E082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35690" y="1825625"/>
            <a:ext cx="6320619" cy="4351338"/>
          </a:xfrm>
        </p:spPr>
      </p:pic>
      <p:sp>
        <p:nvSpPr>
          <p:cNvPr id="50" name="Explicacion"/>
          <p:cNvSpPr txBox="1"/>
          <p:nvPr/>
        </p:nvSpPr>
        <p:spPr>
          <a:xfrm>
            <a:off x="628650" y="6260000"/>
            <a:ext cx="10934700" cy="500000"/>
          </a:xfrm>
          <a:prstGeom prst="rect">
            <a:avLst/>
          </a:prstGeom>
        </p:spPr>
        <p:txBody>
          <a:bodyPr wrap="square" lIns="0" tIns="0" rIns="0" bIns="0" anchor="t">
            <a:normAutofit lnSpcReduction="10000"/>
          </a:bodyPr>
          <a:lstStyle/>
          <a:p>
            <a:pPr algn="ctr"/>
            <a:r>
              <a:rPr lang="es-MX" dirty="0"/>
              <a:t>La optimización global considera todo el flujo del programa y propaga los valores constantes a través de las asignaciones, obteniendo: x=5, y=5, z=5.</a:t>
            </a:r>
          </a:p>
        </p:txBody>
      </p:sp>
    </p:spTree>
    <p:extLst>
      <p:ext uri="{BB962C8B-B14F-4D97-AF65-F5344CB8AC3E}">
        <p14:creationId xmlns:p14="http://schemas.microsoft.com/office/powerpoint/2010/main" val="26559996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042B6D-9088-39F3-8BB4-28F031ED3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Conclusión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7C142FD-5F3D-DE5E-BE68-9488EF136E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s-MX" dirty="0"/>
              <a:t>Los ejercicios realizados mostraron cómo el Optimizador de Código aplica distintas técnicas sobre un mismo fragmento: la optimización local, de mirilla y global lograron reducir las operaciones a asignaciones directas de constantes.</a:t>
            </a:r>
          </a:p>
          <a:p>
            <a:r>
              <a:rPr lang="es-MX" dirty="0"/>
              <a:t>El análisis de flujo de datos permitió identificar el uso y definición de variables en cada línea, mientras que el análisis de costo de ejecución cuantificó el uso de memoria, registros y operaciones de pila.</a:t>
            </a:r>
          </a:p>
          <a:p>
            <a:r>
              <a:rPr lang="es-MX" dirty="0"/>
              <a:t>Esto confirma que el programa aplica correctamente los principios de optimización y análisis de código estudiados en la materia.</a:t>
            </a:r>
          </a:p>
        </p:txBody>
      </p:sp>
    </p:spTree>
    <p:extLst>
      <p:ext uri="{BB962C8B-B14F-4D97-AF65-F5344CB8AC3E}">
        <p14:creationId xmlns:p14="http://schemas.microsoft.com/office/powerpoint/2010/main" val="357356096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530</TotalTime>
  <Words>727</Words>
  <Application>Microsoft Office PowerPoint</Application>
  <PresentationFormat>Panorámica</PresentationFormat>
  <Paragraphs>50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Century Gothic</vt:lpstr>
      <vt:lpstr>Tema de Office</vt:lpstr>
      <vt:lpstr>Presentación de PowerPoint</vt:lpstr>
      <vt:lpstr>Introducción </vt:lpstr>
      <vt:lpstr>Justificación </vt:lpstr>
      <vt:lpstr>Ejercicio 1: optimización local</vt:lpstr>
      <vt:lpstr>Ejercicio 2: criterios para mejorar el código</vt:lpstr>
      <vt:lpstr>Ejercicio 3: costo de ejecución (análisis de registros)</vt:lpstr>
      <vt:lpstr>Ejercicio 3: costo de ejecución (análisis de memoria)</vt:lpstr>
      <vt:lpstr>Ejercicio 4: análisis de flujo de datos</vt:lpstr>
      <vt:lpstr>Ejercicio 3: costo de ejecución (análisis de pila)</vt:lpstr>
      <vt:lpstr>Ejercicio 5: optimización de mirilla</vt:lpstr>
      <vt:lpstr>Ejercicio 6: optimización global</vt:lpstr>
      <vt:lpstr>Conclusión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Jasmine Morales</dc:creator>
  <cp:lastModifiedBy>Jasmine Morales</cp:lastModifiedBy>
  <cp:revision>3</cp:revision>
  <dcterms:created xsi:type="dcterms:W3CDTF">2026-09-20T15:14:26Z</dcterms:created>
  <dcterms:modified xsi:type="dcterms:W3CDTF">2026-09-21T05:26:39Z</dcterms:modified>
</cp:coreProperties>
</file>