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7D65DC-323D-A068-6970-70918D7EDDE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0CC4B1C-4F9E-0485-A030-E17814DFF8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A809A47-28B1-0421-C071-E3435925B564}"/>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5" name="Marcador de pie de página 4">
            <a:extLst>
              <a:ext uri="{FF2B5EF4-FFF2-40B4-BE49-F238E27FC236}">
                <a16:creationId xmlns:a16="http://schemas.microsoft.com/office/drawing/2014/main" id="{710398AF-C7DC-314B-9365-5009C352C8C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F156EA5-1D9E-B71F-D1FF-1C5711B818F5}"/>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3588818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F3EE4B-3121-956C-5ECC-AE9EB9742A2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459E21D-365F-6812-3614-B82CA26FB7B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727A81B-CE13-D550-B3ED-BB0F97471665}"/>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5" name="Marcador de pie de página 4">
            <a:extLst>
              <a:ext uri="{FF2B5EF4-FFF2-40B4-BE49-F238E27FC236}">
                <a16:creationId xmlns:a16="http://schemas.microsoft.com/office/drawing/2014/main" id="{5391AFBB-D4DD-D51F-C252-72537B73595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D93FE69-741F-5DFE-C617-EEA0EEF11C48}"/>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1851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E14D3C-7DC3-5BDC-AD1F-A2CB0829C5C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1F8E4FA-AEB8-1817-42F3-3BBB02D4EC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2E2D7C3-F4D3-051D-52C7-EB9CA279D22F}"/>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5" name="Marcador de pie de página 4">
            <a:extLst>
              <a:ext uri="{FF2B5EF4-FFF2-40B4-BE49-F238E27FC236}">
                <a16:creationId xmlns:a16="http://schemas.microsoft.com/office/drawing/2014/main" id="{2F17752E-0CB7-F56A-F29E-3808A9CB9A1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7446409-EA31-4454-B876-C4BAC68809C4}"/>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53144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CF5AA4-F600-E27F-F04D-B6240F5228E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3EE73A6-AAA1-80B1-BD88-57BAEDD1CF3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978992D8-0376-166E-1BE6-D8E305FB760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BA79CCF-9258-3BB3-1825-214D64376E5B}"/>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6" name="Marcador de pie de página 5">
            <a:extLst>
              <a:ext uri="{FF2B5EF4-FFF2-40B4-BE49-F238E27FC236}">
                <a16:creationId xmlns:a16="http://schemas.microsoft.com/office/drawing/2014/main" id="{BB228820-CBAA-8390-8950-E393CFF4DDF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8B2F35-A65A-0FB8-3FC2-BC34B42736FD}"/>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232413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413C52-EBDB-8353-D3B2-2B8AE6F08E8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6945235-5631-EE4F-4E93-B573D2EFF6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0C7917F-9743-AED6-2542-B1A6D52B7C6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68BFACB-7C40-5D46-B316-F5AA83E322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4D75F00-14BA-ADAA-50D3-E8BB9D0CCF7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5EEEC9D-FF27-3105-03DD-7B3633CE1838}"/>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8" name="Marcador de pie de página 7">
            <a:extLst>
              <a:ext uri="{FF2B5EF4-FFF2-40B4-BE49-F238E27FC236}">
                <a16:creationId xmlns:a16="http://schemas.microsoft.com/office/drawing/2014/main" id="{86E89CF1-D718-2C0F-9129-3664D80477C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DCD80A80-250B-1252-C761-BC40C4D3014C}"/>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216574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96930C-896E-A2F6-46C5-56052CA23E0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9835CD4-3C57-DC33-0555-C2AF3E2F1DA3}"/>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4" name="Marcador de pie de página 3">
            <a:extLst>
              <a:ext uri="{FF2B5EF4-FFF2-40B4-BE49-F238E27FC236}">
                <a16:creationId xmlns:a16="http://schemas.microsoft.com/office/drawing/2014/main" id="{42CC5FB7-84E1-6979-605B-97D15EC3311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3092727-9CEF-BD97-89DF-AD374439EB84}"/>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3153344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BFC76A5-B1A1-792A-5A85-C1942CC217CE}"/>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3" name="Marcador de pie de página 2">
            <a:extLst>
              <a:ext uri="{FF2B5EF4-FFF2-40B4-BE49-F238E27FC236}">
                <a16:creationId xmlns:a16="http://schemas.microsoft.com/office/drawing/2014/main" id="{0FD1DFEB-97A0-4061-557D-8001402F038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746CCB7F-E1E3-97AE-0BDF-A26327EEBB6E}"/>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1701180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3BEC55-9C4F-84B4-2613-6B958BFD9B2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A275EEA-7E15-8C3F-41E6-964451458A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21A6A657-5E12-6C15-3759-6D6B0825ED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3448BD-18CA-2007-4774-A5B7267259E9}"/>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6" name="Marcador de pie de página 5">
            <a:extLst>
              <a:ext uri="{FF2B5EF4-FFF2-40B4-BE49-F238E27FC236}">
                <a16:creationId xmlns:a16="http://schemas.microsoft.com/office/drawing/2014/main" id="{BA98259D-052B-276D-0DC5-B9239E80D45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038FB67-C82F-8135-E2E9-82E0A8E8B7F2}"/>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317682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6632C0-AA39-42A9-E5BA-98D0311558B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5E56A31-125A-1F7D-C63D-61244CAB58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26F8168-F8F8-204D-DD3D-23FEB47798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7AFF740-3AEE-42F5-54F7-B786EE52FCC2}"/>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6" name="Marcador de pie de página 5">
            <a:extLst>
              <a:ext uri="{FF2B5EF4-FFF2-40B4-BE49-F238E27FC236}">
                <a16:creationId xmlns:a16="http://schemas.microsoft.com/office/drawing/2014/main" id="{57724AC2-4B18-A123-7CB2-571A75FDD99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A9F850B-DAE2-FA5A-6001-D21929CDA3A0}"/>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367180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159B82-9597-D9B9-D711-8070D833674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87FA5C5-7ED9-420E-53CC-362EA56E1BF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E4B1699-8451-D4DF-C103-6D7CF1886A90}"/>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5" name="Marcador de pie de página 4">
            <a:extLst>
              <a:ext uri="{FF2B5EF4-FFF2-40B4-BE49-F238E27FC236}">
                <a16:creationId xmlns:a16="http://schemas.microsoft.com/office/drawing/2014/main" id="{F27DD821-0F07-0FE5-7A28-2B928D74586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65FF4E6-FF43-3487-89F2-B209D2B4F81C}"/>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2869372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42F8EFE-5A40-BF96-D385-F4B95FB9F22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A221F06-4966-F15B-DE4B-FA3EEF30519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DACBD68-9F46-6096-66F0-70FA9934E4CF}"/>
              </a:ext>
            </a:extLst>
          </p:cNvPr>
          <p:cNvSpPr>
            <a:spLocks noGrp="1"/>
          </p:cNvSpPr>
          <p:nvPr>
            <p:ph type="dt" sz="half" idx="10"/>
          </p:nvPr>
        </p:nvSpPr>
        <p:spPr/>
        <p:txBody>
          <a:bodyPr/>
          <a:lstStyle/>
          <a:p>
            <a:fld id="{21685BD3-9C86-4A2A-9EDB-4729C19EE3D4}" type="datetimeFigureOut">
              <a:rPr lang="es-MX" smtClean="0"/>
              <a:t>20/09/2026</a:t>
            </a:fld>
            <a:endParaRPr lang="es-MX"/>
          </a:p>
        </p:txBody>
      </p:sp>
      <p:sp>
        <p:nvSpPr>
          <p:cNvPr id="5" name="Marcador de pie de página 4">
            <a:extLst>
              <a:ext uri="{FF2B5EF4-FFF2-40B4-BE49-F238E27FC236}">
                <a16:creationId xmlns:a16="http://schemas.microsoft.com/office/drawing/2014/main" id="{4AFC1FAF-0444-3BBD-68B7-0C363B711BF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8C62095-FFE8-66FD-FAC2-344C1231A5C7}"/>
              </a:ext>
            </a:extLst>
          </p:cNvPr>
          <p:cNvSpPr>
            <a:spLocks noGrp="1"/>
          </p:cNvSpPr>
          <p:nvPr>
            <p:ph type="sldNum" sz="quarter" idx="12"/>
          </p:nvPr>
        </p:nvSpPr>
        <p:spPr/>
        <p:txBody>
          <a:bodyPr/>
          <a:lstStyle/>
          <a:p>
            <a:fld id="{CF97DEE7-29F2-46D1-A1DC-4E450970D37A}" type="slidenum">
              <a:rPr lang="es-MX" smtClean="0"/>
              <a:t>‹Nº›</a:t>
            </a:fld>
            <a:endParaRPr lang="es-MX"/>
          </a:p>
        </p:txBody>
      </p:sp>
    </p:spTree>
    <p:extLst>
      <p:ext uri="{BB962C8B-B14F-4D97-AF65-F5344CB8AC3E}">
        <p14:creationId xmlns:p14="http://schemas.microsoft.com/office/powerpoint/2010/main" val="313200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F784986-7619-A0FC-6E6D-F68BBB4904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6270CB9-258B-F86F-F086-B0FB26FFEF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BBE2B40-511D-CB35-9F90-5F35F7FE13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685BD3-9C86-4A2A-9EDB-4729C19EE3D4}" type="datetimeFigureOut">
              <a:rPr lang="es-MX" smtClean="0"/>
              <a:t>20/09/2026</a:t>
            </a:fld>
            <a:endParaRPr lang="es-MX"/>
          </a:p>
        </p:txBody>
      </p:sp>
      <p:sp>
        <p:nvSpPr>
          <p:cNvPr id="5" name="Marcador de pie de página 4">
            <a:extLst>
              <a:ext uri="{FF2B5EF4-FFF2-40B4-BE49-F238E27FC236}">
                <a16:creationId xmlns:a16="http://schemas.microsoft.com/office/drawing/2014/main" id="{409E1BCA-3D08-6A3C-4702-10C08363D1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F26B786D-1F38-C2E4-11D8-F4CE0A0B8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97DEE7-29F2-46D1-A1DC-4E450970D37A}" type="slidenum">
              <a:rPr lang="es-MX" smtClean="0"/>
              <a:t>‹Nº›</a:t>
            </a:fld>
            <a:endParaRPr lang="es-MX"/>
          </a:p>
        </p:txBody>
      </p:sp>
    </p:spTree>
    <p:extLst>
      <p:ext uri="{BB962C8B-B14F-4D97-AF65-F5344CB8AC3E}">
        <p14:creationId xmlns:p14="http://schemas.microsoft.com/office/powerpoint/2010/main" val="33571827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10C09099-9883-1857-5FD7-145B6789BB5D}"/>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Lenguajes</a:t>
            </a:r>
            <a:r>
              <a:rPr lang="en-US" sz="1600" dirty="0">
                <a:solidFill>
                  <a:srgbClr val="000000"/>
                </a:solidFill>
                <a:latin typeface="Century Gothic" panose="020B0502020202020204" pitchFamily="34" charset="0"/>
                <a:ea typeface="Glacial Indifference"/>
                <a:cs typeface="Glacial Indifference"/>
                <a:sym typeface="Glacial Indifference"/>
              </a:rPr>
              <a:t> y </a:t>
            </a:r>
            <a:r>
              <a:rPr lang="en-US" sz="1600" dirty="0" err="1">
                <a:solidFill>
                  <a:srgbClr val="000000"/>
                </a:solidFill>
                <a:latin typeface="Century Gothic" panose="020B0502020202020204" pitchFamily="34" charset="0"/>
                <a:ea typeface="Glacial Indifference"/>
                <a:cs typeface="Glacial Indifference"/>
                <a:sym typeface="Glacial Indifference"/>
              </a:rPr>
              <a:t>Automatas</a:t>
            </a:r>
            <a:r>
              <a:rPr lang="en-US" sz="1600" dirty="0">
                <a:solidFill>
                  <a:srgbClr val="000000"/>
                </a:solidFill>
                <a:latin typeface="Century Gothic" panose="020B0502020202020204" pitchFamily="34" charset="0"/>
                <a:ea typeface="Glacial Indifference"/>
                <a:cs typeface="Glacial Indifference"/>
                <a:sym typeface="Glacial Indifference"/>
              </a:rPr>
              <a:t> II</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Septimo</a:t>
            </a:r>
            <a:r>
              <a:rPr lang="en-US" sz="1600" dirty="0">
                <a:solidFill>
                  <a:srgbClr val="000000"/>
                </a:solidFill>
                <a:latin typeface="Century Gothic" panose="020B0502020202020204" pitchFamily="34" charset="0"/>
                <a:ea typeface="Glacial Indifference"/>
                <a:cs typeface="Glacial Indifference"/>
                <a:sym typeface="Glacial Indifference"/>
              </a:rPr>
              <a:t> semestre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2.1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03 de </a:t>
            </a:r>
            <a:r>
              <a:rPr lang="en-US" sz="1600" dirty="0" err="1">
                <a:solidFill>
                  <a:srgbClr val="000000"/>
                </a:solidFill>
                <a:latin typeface="Century Gothic" panose="020B0502020202020204" pitchFamily="34" charset="0"/>
                <a:ea typeface="Glacial Indifference"/>
                <a:cs typeface="Glacial Indifference"/>
                <a:sym typeface="Glacial Indifference"/>
              </a:rPr>
              <a:t>septiembre</a:t>
            </a:r>
            <a:r>
              <a:rPr lang="en-US" sz="1600">
                <a:solidFill>
                  <a:srgbClr val="000000"/>
                </a:solidFill>
                <a:latin typeface="Century Gothic" panose="020B0502020202020204" pitchFamily="34" charset="0"/>
                <a:ea typeface="Glacial Indifference"/>
                <a:cs typeface="Glacial Indifference"/>
                <a:sym typeface="Glacial Indifference"/>
              </a:rPr>
              <a:t> 2026</a:t>
            </a:r>
            <a:r>
              <a:rPr lang="en-US" sz="1600" dirty="0">
                <a:solidFill>
                  <a:srgbClr val="000000"/>
                </a:solidFill>
                <a:latin typeface="Century Gothic" panose="020B0502020202020204" pitchFamily="34" charset="0"/>
                <a:ea typeface="Glacial Indifference"/>
                <a:cs typeface="Glacial Indifference"/>
                <a:sym typeface="Glacial Indifference"/>
              </a:rPr>
              <a:t>.</a:t>
            </a:r>
          </a:p>
        </p:txBody>
      </p:sp>
      <p:sp>
        <p:nvSpPr>
          <p:cNvPr id="5" name="TextBox 8">
            <a:extLst>
              <a:ext uri="{FF2B5EF4-FFF2-40B4-BE49-F238E27FC236}">
                <a16:creationId xmlns:a16="http://schemas.microsoft.com/office/drawing/2014/main" id="{5056385C-CEB8-715C-0AA8-94BD5E795131}"/>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CEB72B89-6B09-F819-1EF1-BE637ABF0B5B}"/>
              </a:ext>
            </a:extLst>
          </p:cNvPr>
          <p:cNvGrpSpPr/>
          <p:nvPr/>
        </p:nvGrpSpPr>
        <p:grpSpPr>
          <a:xfrm>
            <a:off x="1118708" y="31119"/>
            <a:ext cx="2709599" cy="1198176"/>
            <a:chOff x="0" y="0"/>
            <a:chExt cx="3073400" cy="1308100"/>
          </a:xfrm>
        </p:grpSpPr>
        <p:sp>
          <p:nvSpPr>
            <p:cNvPr id="7" name="Freeform 3">
              <a:extLst>
                <a:ext uri="{FF2B5EF4-FFF2-40B4-BE49-F238E27FC236}">
                  <a16:creationId xmlns:a16="http://schemas.microsoft.com/office/drawing/2014/main" id="{8A46020E-B23A-AC46-BAC1-05AE356DFB20}"/>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331EFD51-A9B0-E565-4C2F-4F33E01E08C1}"/>
              </a:ext>
            </a:extLst>
          </p:cNvPr>
          <p:cNvGrpSpPr/>
          <p:nvPr/>
        </p:nvGrpSpPr>
        <p:grpSpPr>
          <a:xfrm>
            <a:off x="9459465" y="106714"/>
            <a:ext cx="1872270" cy="1245240"/>
            <a:chOff x="0" y="0"/>
            <a:chExt cx="1981200" cy="1625600"/>
          </a:xfrm>
        </p:grpSpPr>
        <p:sp>
          <p:nvSpPr>
            <p:cNvPr id="9" name="Freeform 5">
              <a:extLst>
                <a:ext uri="{FF2B5EF4-FFF2-40B4-BE49-F238E27FC236}">
                  <a16:creationId xmlns:a16="http://schemas.microsoft.com/office/drawing/2014/main" id="{95EE8F1A-3D2B-5085-53CB-7C0132C0FD7E}"/>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6AC29A6F-7941-E361-2526-1EFED2BC0E5C}"/>
              </a:ext>
            </a:extLst>
          </p:cNvPr>
          <p:cNvGrpSpPr/>
          <p:nvPr/>
        </p:nvGrpSpPr>
        <p:grpSpPr>
          <a:xfrm>
            <a:off x="4609388" y="269788"/>
            <a:ext cx="3812814" cy="709234"/>
            <a:chOff x="0" y="0"/>
            <a:chExt cx="4343400" cy="901700"/>
          </a:xfrm>
        </p:grpSpPr>
        <p:sp>
          <p:nvSpPr>
            <p:cNvPr id="11" name="Freeform 7">
              <a:extLst>
                <a:ext uri="{FF2B5EF4-FFF2-40B4-BE49-F238E27FC236}">
                  <a16:creationId xmlns:a16="http://schemas.microsoft.com/office/drawing/2014/main" id="{28473341-EF52-6133-AFC3-16E878F774CE}"/>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3883360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954816-D399-C80C-8F38-5E084DABBB41}"/>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BE4D8B94-8E3E-7000-7422-7435AE8B8EEE}"/>
              </a:ext>
            </a:extLst>
          </p:cNvPr>
          <p:cNvSpPr>
            <a:spLocks noGrp="1"/>
          </p:cNvSpPr>
          <p:nvPr>
            <p:ph idx="1"/>
          </p:nvPr>
        </p:nvSpPr>
        <p:spPr/>
        <p:txBody>
          <a:bodyPr>
            <a:normAutofit/>
          </a:bodyPr>
          <a:lstStyle/>
          <a:p>
            <a:pPr marL="0" indent="0" algn="just">
              <a:buNone/>
            </a:pPr>
            <a:r>
              <a:rPr lang="es-MX" sz="2400" dirty="0"/>
              <a:t>En esta práctica se desarrolló un Generador de Código Intermedio, una aplicación de escritorio elaborada en Java con JavaFX que representa una de las fases del proceso de compilación. </a:t>
            </a:r>
          </a:p>
          <a:p>
            <a:pPr marL="0" indent="0" algn="just">
              <a:buNone/>
            </a:pPr>
            <a:r>
              <a:rPr lang="es-MX" sz="2400" dirty="0"/>
              <a:t>El programa recibe una expresión aritmética escrita en notación infija y la transforma en distintas representaciones intermedias: notación prefija, notación postfija (polaca), Código P, triplos y cuádruplos.</a:t>
            </a:r>
          </a:p>
          <a:p>
            <a:pPr marL="0" indent="0" algn="just">
              <a:buNone/>
            </a:pPr>
            <a:r>
              <a:rPr lang="es-MX" sz="2400" dirty="0"/>
              <a:t>Para lograrlo, la aplicación separa la expresión en tokens mediante expresiones regulares, asigna la prioridad correspondiente a cada operador y aplica el algoritmo de conversión asociado a cada representación, mostrando el resultado en una interfaz gráfica sencilla e intuitiva.</a:t>
            </a:r>
          </a:p>
        </p:txBody>
      </p:sp>
    </p:spTree>
    <p:extLst>
      <p:ext uri="{BB962C8B-B14F-4D97-AF65-F5344CB8AC3E}">
        <p14:creationId xmlns:p14="http://schemas.microsoft.com/office/powerpoint/2010/main" val="2736384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2ECC24-8B4E-C0EC-8612-1979BF261BF9}"/>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903C7F4A-BD56-D918-B0EF-C8BB5E1A7B53}"/>
              </a:ext>
            </a:extLst>
          </p:cNvPr>
          <p:cNvSpPr>
            <a:spLocks noGrp="1"/>
          </p:cNvSpPr>
          <p:nvPr>
            <p:ph idx="1"/>
          </p:nvPr>
        </p:nvSpPr>
        <p:spPr/>
        <p:txBody>
          <a:bodyPr>
            <a:normAutofit/>
          </a:bodyPr>
          <a:lstStyle/>
          <a:p>
            <a:pPr marL="0" indent="0" algn="just">
              <a:buNone/>
            </a:pPr>
            <a:r>
              <a:rPr lang="es-MX" sz="2000" dirty="0"/>
              <a:t>La generación de código intermedio es una de las fases fundamentales del proceso de compilación, ya que permite representar el código fuente de manera independiente de la máquina, facilitando su posterior optimización y traducción a código objeto.</a:t>
            </a:r>
          </a:p>
          <a:p>
            <a:pPr marL="0" indent="0" algn="just">
              <a:buNone/>
            </a:pPr>
            <a:r>
              <a:rPr lang="es-MX" sz="2000" dirty="0"/>
              <a:t>Comprender y practicar la construcción de estas representaciones (prefija, postfija, Código P, triplos y cuádruplos) resulta esencial para reforzar los conocimientos de la materia de Lenguajes y Autómatas II, pues integra conceptos de análisis léxico, manejo de pilas, prioridad de operadores y estructuras de datos.</a:t>
            </a:r>
          </a:p>
          <a:p>
            <a:pPr marL="0" indent="0" algn="just">
              <a:buNone/>
            </a:pPr>
            <a:r>
              <a:rPr lang="es-MX" sz="2000" dirty="0"/>
              <a:t>Desarrollar esta herramienta de forma práctica permite visualizar con claridad cómo un compilador transforma una expresión escrita por el usuario en las distintas notaciones utilizadas internamente antes de generar el código final.</a:t>
            </a:r>
          </a:p>
        </p:txBody>
      </p:sp>
    </p:spTree>
    <p:extLst>
      <p:ext uri="{BB962C8B-B14F-4D97-AF65-F5344CB8AC3E}">
        <p14:creationId xmlns:p14="http://schemas.microsoft.com/office/powerpoint/2010/main" val="1284725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A6B723-6E1F-5AF6-B1CA-D762F5FA113B}"/>
              </a:ext>
            </a:extLst>
          </p:cNvPr>
          <p:cNvSpPr>
            <a:spLocks noGrp="1"/>
          </p:cNvSpPr>
          <p:nvPr>
            <p:ph type="title"/>
          </p:nvPr>
        </p:nvSpPr>
        <p:spPr/>
        <p:txBody>
          <a:bodyPr/>
          <a:lstStyle/>
          <a:p>
            <a:r>
              <a:rPr lang="es-MX" dirty="0"/>
              <a:t>Estructura del proyecto y clase principal (MainApplication)</a:t>
            </a:r>
          </a:p>
        </p:txBody>
      </p:sp>
      <p:pic>
        <p:nvPicPr>
          <p:cNvPr id="5" name="Marcador de contenido 4">
            <a:extLst>
              <a:ext uri="{FF2B5EF4-FFF2-40B4-BE49-F238E27FC236}">
                <a16:creationId xmlns:a16="http://schemas.microsoft.com/office/drawing/2014/main" id="{03D58AB7-F09F-1096-3039-E10A53F70C99}"/>
              </a:ext>
            </a:extLst>
          </p:cNvPr>
          <p:cNvPicPr>
            <a:picLocks noGrp="1" noChangeAspect="1"/>
          </p:cNvPicPr>
          <p:nvPr>
            <p:ph idx="1"/>
          </p:nvPr>
        </p:nvPicPr>
        <p:blipFill>
          <a:blip r:embed="rId2"/>
          <a:stretch>
            <a:fillRect/>
          </a:stretch>
        </p:blipFill>
        <p:spPr>
          <a:xfrm>
            <a:off x="1742333" y="1825625"/>
            <a:ext cx="8707334"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Esta clase inicia la aplicación JavaFX, carga la interfaz gráfica (main-view.fxml) y configura la ventana principal del programa.</a:t>
            </a:r>
          </a:p>
        </p:txBody>
      </p:sp>
    </p:spTree>
    <p:extLst>
      <p:ext uri="{BB962C8B-B14F-4D97-AF65-F5344CB8AC3E}">
        <p14:creationId xmlns:p14="http://schemas.microsoft.com/office/powerpoint/2010/main" val="4083121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6F01EA-606B-C97F-EEE4-CC918A665353}"/>
              </a:ext>
            </a:extLst>
          </p:cNvPr>
          <p:cNvSpPr>
            <a:spLocks noGrp="1"/>
          </p:cNvSpPr>
          <p:nvPr>
            <p:ph type="title"/>
          </p:nvPr>
        </p:nvSpPr>
        <p:spPr/>
        <p:txBody>
          <a:bodyPr/>
          <a:lstStyle/>
          <a:p>
            <a:r>
              <a:rPr lang="es-MX" dirty="0"/>
              <a:t>Controlador de la interfaz y representaciones disponibles</a:t>
            </a:r>
          </a:p>
        </p:txBody>
      </p:sp>
      <p:pic>
        <p:nvPicPr>
          <p:cNvPr id="5" name="Marcador de contenido 4">
            <a:extLst>
              <a:ext uri="{FF2B5EF4-FFF2-40B4-BE49-F238E27FC236}">
                <a16:creationId xmlns:a16="http://schemas.microsoft.com/office/drawing/2014/main" id="{282BCA19-9972-DA21-08E7-DD2E2220C609}"/>
              </a:ext>
            </a:extLst>
          </p:cNvPr>
          <p:cNvPicPr>
            <a:picLocks noGrp="1" noChangeAspect="1"/>
          </p:cNvPicPr>
          <p:nvPr>
            <p:ph idx="1"/>
          </p:nvPr>
        </p:nvPicPr>
        <p:blipFill>
          <a:blip r:embed="rId2"/>
          <a:stretch>
            <a:fillRect/>
          </a:stretch>
        </p:blipFill>
        <p:spPr>
          <a:xfrm>
            <a:off x="1711733" y="1825625"/>
            <a:ext cx="8768533"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El controlador vincula los elementos de la interfaz y carga en el Combo Box las representaciones disponibles: prefija, infija, postfija, notación polaca, Código P, triplos y cuádruplos.</a:t>
            </a:r>
          </a:p>
        </p:txBody>
      </p:sp>
    </p:spTree>
    <p:extLst>
      <p:ext uri="{BB962C8B-B14F-4D97-AF65-F5344CB8AC3E}">
        <p14:creationId xmlns:p14="http://schemas.microsoft.com/office/powerpoint/2010/main" val="315036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6BAA80-086C-000F-7220-1A039D147D7D}"/>
              </a:ext>
            </a:extLst>
          </p:cNvPr>
          <p:cNvSpPr>
            <a:spLocks noGrp="1"/>
          </p:cNvSpPr>
          <p:nvPr>
            <p:ph type="title"/>
          </p:nvPr>
        </p:nvSpPr>
        <p:spPr/>
        <p:txBody>
          <a:bodyPr/>
          <a:lstStyle/>
          <a:p>
            <a:r>
              <a:rPr lang="es-MX" dirty="0"/>
              <a:t>Función para asignar la prioridad de los operadores</a:t>
            </a:r>
          </a:p>
        </p:txBody>
      </p:sp>
      <p:pic>
        <p:nvPicPr>
          <p:cNvPr id="5" name="Marcador de contenido 4">
            <a:extLst>
              <a:ext uri="{FF2B5EF4-FFF2-40B4-BE49-F238E27FC236}">
                <a16:creationId xmlns:a16="http://schemas.microsoft.com/office/drawing/2014/main" id="{F0EA258E-7139-FFA5-4543-E3EE745E0C26}"/>
              </a:ext>
            </a:extLst>
          </p:cNvPr>
          <p:cNvPicPr>
            <a:picLocks noGrp="1" noChangeAspect="1"/>
          </p:cNvPicPr>
          <p:nvPr>
            <p:ph idx="1"/>
          </p:nvPr>
        </p:nvPicPr>
        <p:blipFill>
          <a:blip r:embed="rId2"/>
          <a:stretch>
            <a:fillRect/>
          </a:stretch>
        </p:blipFill>
        <p:spPr>
          <a:xfrm>
            <a:off x="3530468" y="2064444"/>
            <a:ext cx="5131064" cy="3873699"/>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Esta función determina la jerarquía de los operadores (+, -, *, /, ^) para decidir el orden correcto en que deben evaluarse dentro de la expresión.</a:t>
            </a:r>
          </a:p>
        </p:txBody>
      </p:sp>
    </p:spTree>
    <p:extLst>
      <p:ext uri="{BB962C8B-B14F-4D97-AF65-F5344CB8AC3E}">
        <p14:creationId xmlns:p14="http://schemas.microsoft.com/office/powerpoint/2010/main" val="2450192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E595F5-FB1C-7918-4C5A-1182336D178A}"/>
              </a:ext>
            </a:extLst>
          </p:cNvPr>
          <p:cNvSpPr>
            <a:spLocks noGrp="1"/>
          </p:cNvSpPr>
          <p:nvPr>
            <p:ph type="title"/>
          </p:nvPr>
        </p:nvSpPr>
        <p:spPr/>
        <p:txBody>
          <a:bodyPr/>
          <a:lstStyle/>
          <a:p>
            <a:r>
              <a:rPr lang="es-MX" dirty="0"/>
              <a:t>Función para separar la expresión en tokens</a:t>
            </a:r>
          </a:p>
        </p:txBody>
      </p:sp>
      <p:pic>
        <p:nvPicPr>
          <p:cNvPr id="5" name="Marcador de contenido 4">
            <a:extLst>
              <a:ext uri="{FF2B5EF4-FFF2-40B4-BE49-F238E27FC236}">
                <a16:creationId xmlns:a16="http://schemas.microsoft.com/office/drawing/2014/main" id="{05158ACD-6851-19C8-C183-40917853C720}"/>
              </a:ext>
            </a:extLst>
          </p:cNvPr>
          <p:cNvPicPr>
            <a:picLocks noGrp="1" noChangeAspect="1"/>
          </p:cNvPicPr>
          <p:nvPr>
            <p:ph idx="1"/>
          </p:nvPr>
        </p:nvPicPr>
        <p:blipFill>
          <a:blip r:embed="rId2"/>
          <a:stretch>
            <a:fillRect/>
          </a:stretch>
        </p:blipFill>
        <p:spPr>
          <a:xfrm>
            <a:off x="3559044" y="2258129"/>
            <a:ext cx="5073911" cy="3486329"/>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Mediante una expresión regular, este método divide la expresión ingresada en tokens: variables, números, operadores y paréntesis.</a:t>
            </a:r>
          </a:p>
        </p:txBody>
      </p:sp>
    </p:spTree>
    <p:extLst>
      <p:ext uri="{BB962C8B-B14F-4D97-AF65-F5344CB8AC3E}">
        <p14:creationId xmlns:p14="http://schemas.microsoft.com/office/powerpoint/2010/main" val="4291236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B58BAD-F68C-1DE1-B75F-F02BAB4EC3A2}"/>
              </a:ext>
            </a:extLst>
          </p:cNvPr>
          <p:cNvSpPr>
            <a:spLocks noGrp="1"/>
          </p:cNvSpPr>
          <p:nvPr>
            <p:ph type="title"/>
          </p:nvPr>
        </p:nvSpPr>
        <p:spPr/>
        <p:txBody>
          <a:bodyPr/>
          <a:lstStyle/>
          <a:p>
            <a:r>
              <a:rPr lang="es-MX" dirty="0"/>
              <a:t>Conversión de notación infija a postfija</a:t>
            </a:r>
          </a:p>
        </p:txBody>
      </p:sp>
      <p:pic>
        <p:nvPicPr>
          <p:cNvPr id="5" name="Marcador de contenido 4">
            <a:extLst>
              <a:ext uri="{FF2B5EF4-FFF2-40B4-BE49-F238E27FC236}">
                <a16:creationId xmlns:a16="http://schemas.microsoft.com/office/drawing/2014/main" id="{5D97C757-04D2-ECEB-7E03-0B9CC3989436}"/>
              </a:ext>
            </a:extLst>
          </p:cNvPr>
          <p:cNvPicPr>
            <a:picLocks noGrp="1" noChangeAspect="1"/>
          </p:cNvPicPr>
          <p:nvPr>
            <p:ph idx="1"/>
          </p:nvPr>
        </p:nvPicPr>
        <p:blipFill>
          <a:blip r:embed="rId2"/>
          <a:stretch>
            <a:fillRect/>
          </a:stretch>
        </p:blipFill>
        <p:spPr>
          <a:xfrm>
            <a:off x="3668080" y="1825625"/>
            <a:ext cx="4855840"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Implementa el algoritmo clásico (shunting yard) para convertir una expresión de notación infija a postfija utilizando una pila.</a:t>
            </a:r>
          </a:p>
        </p:txBody>
      </p:sp>
    </p:spTree>
    <p:extLst>
      <p:ext uri="{BB962C8B-B14F-4D97-AF65-F5344CB8AC3E}">
        <p14:creationId xmlns:p14="http://schemas.microsoft.com/office/powerpoint/2010/main" val="1622461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D7244C-0AE6-447F-8B7A-E84129E5F006}"/>
              </a:ext>
            </a:extLst>
          </p:cNvPr>
          <p:cNvSpPr>
            <a:spLocks noGrp="1"/>
          </p:cNvSpPr>
          <p:nvPr>
            <p:ph type="title"/>
          </p:nvPr>
        </p:nvSpPr>
        <p:spPr/>
        <p:txBody>
          <a:bodyPr/>
          <a:lstStyle/>
          <a:p>
            <a:r>
              <a:rPr lang="es-MX" dirty="0"/>
              <a:t>Conversión de notación infija a prefija</a:t>
            </a:r>
          </a:p>
        </p:txBody>
      </p:sp>
      <p:pic>
        <p:nvPicPr>
          <p:cNvPr id="5" name="Marcador de contenido 4">
            <a:extLst>
              <a:ext uri="{FF2B5EF4-FFF2-40B4-BE49-F238E27FC236}">
                <a16:creationId xmlns:a16="http://schemas.microsoft.com/office/drawing/2014/main" id="{057C3214-4A76-0D91-CF5A-B5775BE70565}"/>
              </a:ext>
            </a:extLst>
          </p:cNvPr>
          <p:cNvPicPr>
            <a:picLocks noGrp="1" noChangeAspect="1"/>
          </p:cNvPicPr>
          <p:nvPr>
            <p:ph idx="1"/>
          </p:nvPr>
        </p:nvPicPr>
        <p:blipFill>
          <a:blip r:embed="rId2"/>
          <a:stretch>
            <a:fillRect/>
          </a:stretch>
        </p:blipFill>
        <p:spPr>
          <a:xfrm>
            <a:off x="3900423" y="1825625"/>
            <a:ext cx="4391153"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Invierte la expresión, aplica el algoritmo de conversión a postfija y vuelve a invertir el resultado para obtener la notación prefija.</a:t>
            </a:r>
          </a:p>
        </p:txBody>
      </p:sp>
    </p:spTree>
    <p:extLst>
      <p:ext uri="{BB962C8B-B14F-4D97-AF65-F5344CB8AC3E}">
        <p14:creationId xmlns:p14="http://schemas.microsoft.com/office/powerpoint/2010/main" val="4255559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9AFAA5-0DAE-3EA9-7ED3-1FE13498B3B9}"/>
              </a:ext>
            </a:extLst>
          </p:cNvPr>
          <p:cNvSpPr>
            <a:spLocks noGrp="1"/>
          </p:cNvSpPr>
          <p:nvPr>
            <p:ph type="title"/>
          </p:nvPr>
        </p:nvSpPr>
        <p:spPr/>
        <p:txBody>
          <a:bodyPr/>
          <a:lstStyle/>
          <a:p>
            <a:r>
              <a:rPr lang="es-MX" dirty="0"/>
              <a:t>Generación de Código P</a:t>
            </a:r>
          </a:p>
        </p:txBody>
      </p:sp>
      <p:pic>
        <p:nvPicPr>
          <p:cNvPr id="5" name="Marcador de contenido 4">
            <a:extLst>
              <a:ext uri="{FF2B5EF4-FFF2-40B4-BE49-F238E27FC236}">
                <a16:creationId xmlns:a16="http://schemas.microsoft.com/office/drawing/2014/main" id="{5D810B50-EFF0-3012-F6FF-EFB38595FA8C}"/>
              </a:ext>
            </a:extLst>
          </p:cNvPr>
          <p:cNvPicPr>
            <a:picLocks noGrp="1" noChangeAspect="1"/>
          </p:cNvPicPr>
          <p:nvPr>
            <p:ph idx="1"/>
          </p:nvPr>
        </p:nvPicPr>
        <p:blipFill>
          <a:blip r:embed="rId2"/>
          <a:stretch>
            <a:fillRect/>
          </a:stretch>
        </p:blipFill>
        <p:spPr>
          <a:xfrm>
            <a:off x="3934894" y="1825625"/>
            <a:ext cx="4322212"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Convierte la expresión postfija en una secuencia de instrucciones tipo pila (PUSH y operaciones OP), similar al código que ejecutaría una máquina de pila.</a:t>
            </a:r>
          </a:p>
        </p:txBody>
      </p:sp>
    </p:spTree>
    <p:extLst>
      <p:ext uri="{BB962C8B-B14F-4D97-AF65-F5344CB8AC3E}">
        <p14:creationId xmlns:p14="http://schemas.microsoft.com/office/powerpoint/2010/main" val="3012197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D0E138-60CC-BE06-11CB-19EB44A73FA2}"/>
              </a:ext>
            </a:extLst>
          </p:cNvPr>
          <p:cNvSpPr>
            <a:spLocks noGrp="1"/>
          </p:cNvSpPr>
          <p:nvPr>
            <p:ph type="title"/>
          </p:nvPr>
        </p:nvSpPr>
        <p:spPr/>
        <p:txBody>
          <a:bodyPr/>
          <a:lstStyle/>
          <a:p>
            <a:r>
              <a:rPr lang="es-MX" dirty="0"/>
              <a:t>Generación de triplos</a:t>
            </a:r>
          </a:p>
        </p:txBody>
      </p:sp>
      <p:pic>
        <p:nvPicPr>
          <p:cNvPr id="5" name="Marcador de contenido 4">
            <a:extLst>
              <a:ext uri="{FF2B5EF4-FFF2-40B4-BE49-F238E27FC236}">
                <a16:creationId xmlns:a16="http://schemas.microsoft.com/office/drawing/2014/main" id="{CBD2A790-EA22-FD77-9959-5A3E3C0C45BF}"/>
              </a:ext>
            </a:extLst>
          </p:cNvPr>
          <p:cNvPicPr>
            <a:picLocks noGrp="1" noChangeAspect="1"/>
          </p:cNvPicPr>
          <p:nvPr>
            <p:ph idx="1"/>
          </p:nvPr>
        </p:nvPicPr>
        <p:blipFill>
          <a:blip r:embed="rId2"/>
          <a:stretch>
            <a:fillRect/>
          </a:stretch>
        </p:blipFill>
        <p:spPr>
          <a:xfrm>
            <a:off x="3506465" y="1825625"/>
            <a:ext cx="5179069"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Genera la tabla de triplos a partir de la expresión postfija, indicando el índice, el operador y los dos operandos de cada operación.</a:t>
            </a:r>
          </a:p>
        </p:txBody>
      </p:sp>
    </p:spTree>
    <p:extLst>
      <p:ext uri="{BB962C8B-B14F-4D97-AF65-F5344CB8AC3E}">
        <p14:creationId xmlns:p14="http://schemas.microsoft.com/office/powerpoint/2010/main" val="990898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22BB9-127D-6698-D1C6-927CB763C58D}"/>
              </a:ext>
            </a:extLst>
          </p:cNvPr>
          <p:cNvSpPr>
            <a:spLocks noGrp="1"/>
          </p:cNvSpPr>
          <p:nvPr>
            <p:ph type="title"/>
          </p:nvPr>
        </p:nvSpPr>
        <p:spPr/>
        <p:txBody>
          <a:bodyPr/>
          <a:lstStyle/>
          <a:p>
            <a:r>
              <a:rPr lang="es-MX" dirty="0"/>
              <a:t>Generación de cuádruplos</a:t>
            </a:r>
          </a:p>
        </p:txBody>
      </p:sp>
      <p:pic>
        <p:nvPicPr>
          <p:cNvPr id="5" name="Marcador de contenido 4">
            <a:extLst>
              <a:ext uri="{FF2B5EF4-FFF2-40B4-BE49-F238E27FC236}">
                <a16:creationId xmlns:a16="http://schemas.microsoft.com/office/drawing/2014/main" id="{BF473CF9-4C8A-F53C-23C0-DECD866AA3C4}"/>
              </a:ext>
            </a:extLst>
          </p:cNvPr>
          <p:cNvPicPr>
            <a:picLocks noGrp="1" noChangeAspect="1"/>
          </p:cNvPicPr>
          <p:nvPr>
            <p:ph idx="1"/>
          </p:nvPr>
        </p:nvPicPr>
        <p:blipFill>
          <a:blip r:embed="rId2"/>
          <a:stretch>
            <a:fillRect/>
          </a:stretch>
        </p:blipFill>
        <p:spPr>
          <a:xfrm>
            <a:off x="3960621" y="1825625"/>
            <a:ext cx="4270757"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Genera la tabla de cuádruplos, agregando además una variable temporal que almacena el resultado de cada operación.</a:t>
            </a:r>
          </a:p>
        </p:txBody>
      </p:sp>
    </p:spTree>
    <p:extLst>
      <p:ext uri="{BB962C8B-B14F-4D97-AF65-F5344CB8AC3E}">
        <p14:creationId xmlns:p14="http://schemas.microsoft.com/office/powerpoint/2010/main" val="2092286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599083-E80A-561C-5373-CF0243B82AC9}"/>
              </a:ext>
            </a:extLst>
          </p:cNvPr>
          <p:cNvSpPr>
            <a:spLocks noGrp="1"/>
          </p:cNvSpPr>
          <p:nvPr>
            <p:ph type="title"/>
          </p:nvPr>
        </p:nvSpPr>
        <p:spPr/>
        <p:txBody>
          <a:bodyPr/>
          <a:lstStyle/>
          <a:p>
            <a:r>
              <a:rPr lang="es-MX" dirty="0"/>
              <a:t>Diseño de la interfaz gráfica (FXML): menú y representaciones</a:t>
            </a:r>
          </a:p>
        </p:txBody>
      </p:sp>
      <p:pic>
        <p:nvPicPr>
          <p:cNvPr id="5" name="Marcador de contenido 4">
            <a:extLst>
              <a:ext uri="{FF2B5EF4-FFF2-40B4-BE49-F238E27FC236}">
                <a16:creationId xmlns:a16="http://schemas.microsoft.com/office/drawing/2014/main" id="{226BA101-70F6-85C8-6222-67DAA31988C4}"/>
              </a:ext>
            </a:extLst>
          </p:cNvPr>
          <p:cNvPicPr>
            <a:picLocks noGrp="1" noChangeAspect="1"/>
          </p:cNvPicPr>
          <p:nvPr>
            <p:ph idx="1"/>
          </p:nvPr>
        </p:nvPicPr>
        <p:blipFill>
          <a:blip r:embed="rId2"/>
          <a:stretch>
            <a:fillRect/>
          </a:stretch>
        </p:blipFill>
        <p:spPr>
          <a:xfrm>
            <a:off x="3071565" y="1825625"/>
            <a:ext cx="6048869"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Se define la estructura del menú de la aplicación (Archivo y Representaciones) mediante FXML, enlazado con el controlador.</a:t>
            </a:r>
          </a:p>
        </p:txBody>
      </p:sp>
    </p:spTree>
    <p:extLst>
      <p:ext uri="{BB962C8B-B14F-4D97-AF65-F5344CB8AC3E}">
        <p14:creationId xmlns:p14="http://schemas.microsoft.com/office/powerpoint/2010/main" val="4281679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C04E9D-CE10-8296-CBBA-A0F4F027DD97}"/>
              </a:ext>
            </a:extLst>
          </p:cNvPr>
          <p:cNvSpPr>
            <a:spLocks noGrp="1"/>
          </p:cNvSpPr>
          <p:nvPr>
            <p:ph type="title"/>
          </p:nvPr>
        </p:nvSpPr>
        <p:spPr/>
        <p:txBody>
          <a:bodyPr/>
          <a:lstStyle/>
          <a:p>
            <a:r>
              <a:rPr lang="es-MX" dirty="0"/>
              <a:t>Diseño de la interfaz gráfica (FXML): botones de acción</a:t>
            </a:r>
          </a:p>
        </p:txBody>
      </p:sp>
      <p:pic>
        <p:nvPicPr>
          <p:cNvPr id="5" name="Marcador de contenido 4">
            <a:extLst>
              <a:ext uri="{FF2B5EF4-FFF2-40B4-BE49-F238E27FC236}">
                <a16:creationId xmlns:a16="http://schemas.microsoft.com/office/drawing/2014/main" id="{B6CBB0D6-C0C6-09BB-17A2-EBB9A9D143A6}"/>
              </a:ext>
            </a:extLst>
          </p:cNvPr>
          <p:cNvPicPr>
            <a:picLocks noGrp="1" noChangeAspect="1"/>
          </p:cNvPicPr>
          <p:nvPr>
            <p:ph idx="1"/>
          </p:nvPr>
        </p:nvPicPr>
        <p:blipFill>
          <a:blip r:embed="rId2"/>
          <a:stretch>
            <a:fillRect/>
          </a:stretch>
        </p:blipFill>
        <p:spPr>
          <a:xfrm>
            <a:off x="3692401" y="1873934"/>
            <a:ext cx="4807197" cy="4254719"/>
          </a:xfrm>
        </p:spPr>
      </p:pic>
      <p:sp>
        <p:nvSpPr>
          <p:cNvPr id="50" name="Explicacion"/>
          <p:cNvSpPr txBox="1"/>
          <p:nvPr/>
        </p:nvSpPr>
        <p:spPr>
          <a:xfrm>
            <a:off x="628650" y="6260000"/>
            <a:ext cx="10934700" cy="500000"/>
          </a:xfrm>
          <a:prstGeom prst="rect">
            <a:avLst/>
          </a:prstGeom>
        </p:spPr>
        <p:txBody>
          <a:bodyPr wrap="square" lIns="0" tIns="0" rIns="0" bIns="0" anchor="t">
            <a:normAutofit/>
          </a:bodyPr>
          <a:lstStyle/>
          <a:p>
            <a:pPr algn="ctr"/>
            <a:r>
              <a:rPr lang="es-MX" dirty="0"/>
              <a:t>Se definen los botones de acción (Convertir expresión y Limpiar) y su estilo visual dentro de la interfaz.</a:t>
            </a:r>
          </a:p>
        </p:txBody>
      </p:sp>
    </p:spTree>
    <p:extLst>
      <p:ext uri="{BB962C8B-B14F-4D97-AF65-F5344CB8AC3E}">
        <p14:creationId xmlns:p14="http://schemas.microsoft.com/office/powerpoint/2010/main" val="3742922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8D5068-9968-4428-CE1F-E50E89A39CE0}"/>
              </a:ext>
            </a:extLst>
          </p:cNvPr>
          <p:cNvSpPr>
            <a:spLocks noGrp="1"/>
          </p:cNvSpPr>
          <p:nvPr>
            <p:ph type="title"/>
          </p:nvPr>
        </p:nvSpPr>
        <p:spPr/>
        <p:txBody>
          <a:bodyPr/>
          <a:lstStyle/>
          <a:p>
            <a:r>
              <a:rPr lang="es-MX" dirty="0"/>
              <a:t>Vista del diseño en Scene Builder</a:t>
            </a:r>
          </a:p>
        </p:txBody>
      </p:sp>
      <p:pic>
        <p:nvPicPr>
          <p:cNvPr id="5" name="Marcador de contenido 4">
            <a:extLst>
              <a:ext uri="{FF2B5EF4-FFF2-40B4-BE49-F238E27FC236}">
                <a16:creationId xmlns:a16="http://schemas.microsoft.com/office/drawing/2014/main" id="{66C9F5E2-B9CD-BC9B-9E71-5B6D61D5FCE0}"/>
              </a:ext>
            </a:extLst>
          </p:cNvPr>
          <p:cNvPicPr>
            <a:picLocks noGrp="1" noChangeAspect="1"/>
          </p:cNvPicPr>
          <p:nvPr>
            <p:ph idx="1"/>
          </p:nvPr>
        </p:nvPicPr>
        <p:blipFill>
          <a:blip r:embed="rId2"/>
          <a:stretch>
            <a:fillRect/>
          </a:stretch>
        </p:blipFill>
        <p:spPr>
          <a:xfrm>
            <a:off x="1097613" y="1790199"/>
            <a:ext cx="5189582" cy="2735489"/>
          </a:xfrm>
        </p:spPr>
      </p:pic>
      <p:pic>
        <p:nvPicPr>
          <p:cNvPr id="7" name="Imagen 6">
            <a:extLst>
              <a:ext uri="{FF2B5EF4-FFF2-40B4-BE49-F238E27FC236}">
                <a16:creationId xmlns:a16="http://schemas.microsoft.com/office/drawing/2014/main" id="{03EAB191-BE04-53C1-63A1-FC6D44C0ECE9}"/>
              </a:ext>
            </a:extLst>
          </p:cNvPr>
          <p:cNvPicPr>
            <a:picLocks noChangeAspect="1"/>
          </p:cNvPicPr>
          <p:nvPr/>
        </p:nvPicPr>
        <p:blipFill>
          <a:blip r:embed="rId3"/>
          <a:stretch>
            <a:fillRect/>
          </a:stretch>
        </p:blipFill>
        <p:spPr>
          <a:xfrm>
            <a:off x="6416434" y="1782082"/>
            <a:ext cx="5189582" cy="2743606"/>
          </a:xfrm>
          <a:prstGeom prst="rect">
            <a:avLst/>
          </a:prstGeom>
        </p:spPr>
      </p:pic>
      <p:sp>
        <p:nvSpPr>
          <p:cNvPr id="50" name="Explicacion"/>
          <p:cNvSpPr txBox="1"/>
          <p:nvPr/>
        </p:nvSpPr>
        <p:spPr>
          <a:xfrm>
            <a:off x="628650" y="4888400"/>
            <a:ext cx="10934700" cy="500000"/>
          </a:xfrm>
          <a:prstGeom prst="rect">
            <a:avLst/>
          </a:prstGeom>
        </p:spPr>
        <p:txBody>
          <a:bodyPr wrap="square" lIns="0" tIns="0" rIns="0" bIns="0" anchor="t">
            <a:normAutofit lnSpcReduction="10000"/>
          </a:bodyPr>
          <a:lstStyle/>
          <a:p>
            <a:pPr algn="ctr"/>
            <a:r>
              <a:rPr lang="es-MX" dirty="0"/>
              <a:t>Vista previa del diseño de la interfaz en Scene Builder, mostrando la distribución de los paneles de entrada y resultado.</a:t>
            </a:r>
          </a:p>
        </p:txBody>
      </p:sp>
    </p:spTree>
    <p:extLst>
      <p:ext uri="{BB962C8B-B14F-4D97-AF65-F5344CB8AC3E}">
        <p14:creationId xmlns:p14="http://schemas.microsoft.com/office/powerpoint/2010/main" val="529350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650758-DB8E-DD2C-E33B-D87615E5A605}"/>
              </a:ext>
            </a:extLst>
          </p:cNvPr>
          <p:cNvSpPr>
            <a:spLocks noGrp="1"/>
          </p:cNvSpPr>
          <p:nvPr>
            <p:ph type="title"/>
          </p:nvPr>
        </p:nvSpPr>
        <p:spPr/>
        <p:txBody>
          <a:bodyPr/>
          <a:lstStyle/>
          <a:p>
            <a:r>
              <a:rPr lang="es-MX" dirty="0"/>
              <a:t>Interfaz final del Generador de Código Intermedio en ejecución</a:t>
            </a:r>
          </a:p>
        </p:txBody>
      </p:sp>
      <p:pic>
        <p:nvPicPr>
          <p:cNvPr id="5" name="Marcador de contenido 4">
            <a:extLst>
              <a:ext uri="{FF2B5EF4-FFF2-40B4-BE49-F238E27FC236}">
                <a16:creationId xmlns:a16="http://schemas.microsoft.com/office/drawing/2014/main" id="{B68C4449-9083-CF88-3EBE-C9E8AB6641C2}"/>
              </a:ext>
            </a:extLst>
          </p:cNvPr>
          <p:cNvPicPr>
            <a:picLocks noGrp="1" noChangeAspect="1"/>
          </p:cNvPicPr>
          <p:nvPr>
            <p:ph idx="1"/>
          </p:nvPr>
        </p:nvPicPr>
        <p:blipFill>
          <a:blip r:embed="rId2"/>
          <a:stretch>
            <a:fillRect/>
          </a:stretch>
        </p:blipFill>
        <p:spPr>
          <a:xfrm>
            <a:off x="1740048" y="1825625"/>
            <a:ext cx="8711904" cy="4351338"/>
          </a:xfrm>
        </p:spPr>
      </p:pic>
      <p:sp>
        <p:nvSpPr>
          <p:cNvPr id="50" name="Explicacion"/>
          <p:cNvSpPr txBox="1"/>
          <p:nvPr/>
        </p:nvSpPr>
        <p:spPr>
          <a:xfrm>
            <a:off x="628650" y="6260000"/>
            <a:ext cx="10934700" cy="500000"/>
          </a:xfrm>
          <a:prstGeom prst="rect">
            <a:avLst/>
          </a:prstGeom>
        </p:spPr>
        <p:txBody>
          <a:bodyPr wrap="square" lIns="0" tIns="0" rIns="0" bIns="0" anchor="t">
            <a:normAutofit lnSpcReduction="10000"/>
          </a:bodyPr>
          <a:lstStyle/>
          <a:p>
            <a:pPr algn="ctr"/>
            <a:r>
              <a:rPr lang="es-MX" dirty="0"/>
              <a:t>Interfaz final del programa en ejecución, donde el usuario escribe una expresión, selecciona la representación deseada y obtiene el resultado.</a:t>
            </a:r>
          </a:p>
        </p:txBody>
      </p:sp>
    </p:spTree>
    <p:extLst>
      <p:ext uri="{BB962C8B-B14F-4D97-AF65-F5344CB8AC3E}">
        <p14:creationId xmlns:p14="http://schemas.microsoft.com/office/powerpoint/2010/main" val="3580740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9D6C7F-1CA7-66CE-25C7-0DF912D284F2}"/>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15ECDE22-7258-FC9F-5856-776A49D0D1BA}"/>
              </a:ext>
            </a:extLst>
          </p:cNvPr>
          <p:cNvSpPr>
            <a:spLocks noGrp="1"/>
          </p:cNvSpPr>
          <p:nvPr>
            <p:ph idx="1"/>
          </p:nvPr>
        </p:nvSpPr>
        <p:spPr/>
        <p:txBody>
          <a:bodyPr>
            <a:normAutofit/>
          </a:bodyPr>
          <a:lstStyle/>
          <a:p>
            <a:pPr marL="0" indent="0" algn="just">
              <a:buNone/>
            </a:pPr>
            <a:r>
              <a:rPr lang="es-MX" sz="2000" dirty="0"/>
              <a:t>El desarrollo del Generador de Código Intermedio permitió comprobar de forma práctica cómo un compilador transforma una expresión aritmética en distintas representaciones internas: prefija, postfija, notación polaca, Código P, triplos y cuádruplos.</a:t>
            </a:r>
          </a:p>
          <a:p>
            <a:pPr marL="0" indent="0" algn="just">
              <a:buNone/>
            </a:pPr>
            <a:r>
              <a:rPr lang="es-MX" sz="2000" dirty="0"/>
              <a:t>Se reforzaron conceptos clave de la materia de Lenguajes y Autómatas II, como la </a:t>
            </a:r>
            <a:r>
              <a:rPr lang="es-MX" sz="2000" dirty="0" err="1"/>
              <a:t>tokenización</a:t>
            </a:r>
            <a:r>
              <a:rPr lang="es-MX" sz="2000" dirty="0"/>
              <a:t> mediante expresiones regulares, la prioridad de operadores y el uso de pilas para la conversión entre notaciones.</a:t>
            </a:r>
          </a:p>
          <a:p>
            <a:pPr marL="0" indent="0" algn="just">
              <a:buNone/>
            </a:pPr>
            <a:r>
              <a:rPr lang="es-MX" sz="2000" dirty="0"/>
              <a:t>Finalmente, la implementación de una interfaz gráfica funcional en </a:t>
            </a:r>
            <a:r>
              <a:rPr lang="es-MX" sz="2000" dirty="0" err="1"/>
              <a:t>JavaFX</a:t>
            </a:r>
            <a:r>
              <a:rPr lang="es-MX" sz="2000" dirty="0"/>
              <a:t> permitió visualizar de manera clara e interactiva el resultado de cada conversión, cumpliendo con el objetivo de la práctica.</a:t>
            </a:r>
          </a:p>
          <a:p>
            <a:pPr marL="0" indent="0" algn="just">
              <a:buNone/>
            </a:pPr>
            <a:endParaRPr lang="es-MX" sz="2000" dirty="0"/>
          </a:p>
        </p:txBody>
      </p:sp>
    </p:spTree>
    <p:extLst>
      <p:ext uri="{BB962C8B-B14F-4D97-AF65-F5344CB8AC3E}">
        <p14:creationId xmlns:p14="http://schemas.microsoft.com/office/powerpoint/2010/main" val="222328342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812</Words>
  <Application>Microsoft Office PowerPoint</Application>
  <PresentationFormat>Panorámica</PresentationFormat>
  <Paragraphs>60</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Aptos</vt:lpstr>
      <vt:lpstr>Aptos Display</vt:lpstr>
      <vt:lpstr>Arial</vt:lpstr>
      <vt:lpstr>Century Gothic</vt:lpstr>
      <vt:lpstr>Tema de Office</vt:lpstr>
      <vt:lpstr>Presentación de PowerPoint</vt:lpstr>
      <vt:lpstr>Introducción </vt:lpstr>
      <vt:lpstr>Justificación </vt:lpstr>
      <vt:lpstr>Estructura del proyecto y clase principal (MainApplication)</vt:lpstr>
      <vt:lpstr>Controlador de la interfaz y representaciones disponibles</vt:lpstr>
      <vt:lpstr>Función para asignar la prioridad de los operadores</vt:lpstr>
      <vt:lpstr>Función para separar la expresión en tokens</vt:lpstr>
      <vt:lpstr>Conversión de notación infija a postfija</vt:lpstr>
      <vt:lpstr>Conversión de notación infija a prefija</vt:lpstr>
      <vt:lpstr>Generación de Código P</vt:lpstr>
      <vt:lpstr>Generación de triplos</vt:lpstr>
      <vt:lpstr>Generación de cuádruplos</vt:lpstr>
      <vt:lpstr>Diseño de la interfaz gráfica (FXML): menú y representaciones</vt:lpstr>
      <vt:lpstr>Diseño de la interfaz gráfica (FXML): botones de acción</vt:lpstr>
      <vt:lpstr>Vista del diseño en Scene Builder</vt:lpstr>
      <vt:lpstr>Interfaz final del Generador de Código Intermedio en ejecución</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4</cp:revision>
  <dcterms:created xsi:type="dcterms:W3CDTF">2026-09-20T14:34:47Z</dcterms:created>
  <dcterms:modified xsi:type="dcterms:W3CDTF">2026-09-21T05:22:03Z</dcterms:modified>
</cp:coreProperties>
</file>